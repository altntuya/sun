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Танилцуулга" id="{f8f325bf-c443-572d-1abe-dff51c6a8889}">
          <p14:sldIdLst>
            <p14:sldId id="256"/>
          </p14:sldIdLst>
        </p14:section>
        <p14:section name="Асуудал" id="{4c1dd62d-751b-9496-e24a-118f50fc451d}">
          <p14:sldIdLst>
            <p14:sldId id="257"/>
          </p14:sldIdLst>
        </p14:section>
        <p14:section name="Шийдэл" id="{a50ebe6e-5075-38d8-424e-807cb0cdc3ba}">
          <p14:sldIdLst>
            <p14:sldId id="258"/>
          </p14:sldIdLst>
        </p14:section>
        <p14:section name="Demo" id="{04206bec-e7ea-b222-d874-16aafdcfc51c}">
          <p14:sldIdLst>
            <p14:sldId id="259"/>
          </p14:sldIdLst>
        </p14:section>
        <p14:section name="erxes интеграц" id="{b6bcd999-80f5-ce26-0160-f0db50e65f45}">
          <p14:sldIdLst>
            <p14:sldId id="260"/>
          </p14:sldIdLst>
        </p14:section>
        <p14:section name="Техникийн шийдэл" id="{37d34106-92f8-66ab-b0c3-3452e28b05ed}">
          <p14:sldIdLst>
            <p14:sldId id="261"/>
          </p14:sldIdLst>
        </p14:section>
        <p14:section name="Дараагийн алхам" id="{ce15d247-4ee7-998e-0768-651f3acdbdf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Сайн байцгаана уу. Бид EduLab-ийг танилцуулж байна — erxes-ийн plugin. Сурагчид физик, химийн туршилтыг цахим лаборатори дээр хийж, Gemma 4 хиймэл оюун тэдний дүгнэлтийг бодит хэмжилттэй нь тулгаж үнэлдэг, харин эцсийн үнэлгээг багш батална.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Манай олон сургуульд лабораторийн тоног төхөөрөмж, байгалийн ухааны багш хүрэлцдэггүй. Сурагчид Омын хууль, титрлэлтийг зөвхөн номноос уншиж цээжилдэг. Багш нар лабораторийн тайлан бүрийг гараар шалгаж, сурагчийн дүгнэлт түүний хэмжилттэй нийцэж байгаа эсэхийг тулгахад их цаг зарцуулдаг. Мөн сурагч бүрийн ахицыг тогтмол харах хэрэгсэл алга.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[0:40–1:05] EduLab гурван алхамтай. Нэгдүгээрт, сурагч цахим лабораторид бодит лабораторийн алхмаар туршилт хийнэ — одоо физикийн хоёр, химийн нэг lab ажиллаж байна. Хоёрдугаарт, Gemma 4 сурагчийн дүгнэлтийг серверт тооцоолсон хэмжилтийн баримттай тулгаж, багшийн rubric-ийн шалгуур бүрээр оноо санал болгоно. Гуравдугаарт, багш нэг товчоор хянаж батална — эцсийн шийдвэр үргэлж багшийнх.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[1:05–2:00] (Видеог тоглуулна, ~52 сек.) Багшийн самбараас эхэлье. Даалгаврууд ангид оноогдсон. Багш нар нь erxes-ийн хэрэглэгч, анги бүрт багш оноогдоно. Сурагч бүр erxes Contacts-ийн харилцагчтай холбогдсон — эцэг эхтэй нь CRM-ээр харилцана. Багш шинэ даалгавар үүсгэхдээ lab-аа сонгож, үнэлгээний шалгуураа оноотойгоор бичнэ. Даалгаврын хуудсанд илгээлт бүр AI оноотойгоо орж ирнэ. Сурагч талд: таамаглал, титрлэлт — ганц дусал цайвар ягаан, дүгнэлт. Илгээмэгц Gemma 4 10 оноо санал болгосон. Багш хэмжилт, графикийг харж, шалгуур бүрийн тайлбарыг уншаад «Ашиглах» дарахад оноо, тайлбар бөглөгдөнө — эцсийн батлалт багшийнх. Мөн дүүжин, Омын хуулийн lab байгаа.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[2:00–2:25] EduLab бол erxes-ийн стандарт plugin: React frontend нь Module Federation-аар, backend нь GraphQL subgraph болж gateway-д бүртгэгдэнэ. Бид erxes-ийн core-ийг шууд ашигладаг: багш нь erxes-ийн хэрэглэгч, сурагч Contacts-тэй холбогдоно, эрхийг erxes-ийн permission систем хамгаална, байгууллага бүрийн өгөгдөл тусдаа.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[2:25–2:45] Хоёр чухал шийдвэр: нэгдүгээрт хэмжилтийн баримтыг хиймэл оюун биш сервер тооцоолдог тул AI тоо андуурдаггүй, зөвхөн сурагчийн дүгнэлтийг шүүнэ. Хоёрдугаарт Gemma 4-ийн бодох горимыг тохируулж, үнэлгээг 30 секундээс 5–10 секунд болгосон, оноо нь өөрчлөгдөөгүй. Бодит туршилтад зөв ажил 10, хэтрүүлсэн туршилтаа дунджид оруулсан ажил 5, нэгжийн алдаатай ажил 0 оноо авсан.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[2:45–3:00] Дараагийн алхамд зургаар оруулсан даалгаврыг шинжлэх, тестийн автомат шалгалт, AI туслах багш, ахицын тайлан, багш өөрөө lab үүсгэх боломжийг нэмнэ. Бидний алсын хараа: сурагч бүрд туршиж суралцах боломж, багш бүрд ухаалгаар ажиллах нөхцөл. Код нээлттэй, GitHub дээр байна. Баярлалаа!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DULAB_TITLE">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75488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423160"/>
            <a:ext cx="457200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DULAB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457200" y="530352"/>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accent6"/>
                </a:solidFill>
              </a:rPr>
              <a:t>EduLab · erxes plugin</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DULAB_CLOSING">
    <p:bg>
      <p:bgPr>
        <a:solidFill>
          <a:srgbClr val="0B122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457200" y="530352"/>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754880" cy="914400"/>
          </a:xfrm>
          <a:prstGeom prst="rect">
            <a:avLst/>
          </a:prstGeom>
          <a:noFill/>
          <a:ln/>
        </p:spPr>
        <p:txBody>
          <a:bodyPr wrap="square" lIns="0" tIns="0" rIns="0" bIns="0" rtlCol="0" anchor="b"/>
          <a:lstStyle/>
          <a:p>
            <a:pPr algn="l" indent="0" marL="0">
              <a:buNone/>
            </a:pPr>
            <a:r>
              <a:rPr lang="en-US" sz="4800" b="1" dirty="0">
                <a:solidFill>
                  <a:schemeClr val="bg1"/>
                </a:solidFill>
              </a:rPr>
              <a:t>EduLab</a:t>
            </a:r>
            <a:endParaRPr lang="en-US" sz="4800" dirty="0"/>
          </a:p>
        </p:txBody>
      </p:sp>
      <p:sp>
        <p:nvSpPr>
          <p:cNvPr id="3" name="Text 0"/>
          <p:cNvSpPr/>
          <p:nvPr>
            <p:ph idx="101" type="body" hasCustomPrompt="1"/>
          </p:nvPr>
        </p:nvSpPr>
        <p:spPr>
          <a:xfrm>
            <a:off x="548640" y="2423160"/>
            <a:ext cx="4572000" cy="914400"/>
          </a:xfrm>
          <a:prstGeom prst="rect">
            <a:avLst/>
          </a:prstGeom>
          <a:noFill/>
          <a:ln/>
        </p:spPr>
        <p:txBody>
          <a:bodyPr wrap="square" lIns="0" tIns="0" rIns="0" bIns="0" rtlCol="0" anchor="t"/>
          <a:lstStyle/>
          <a:p>
            <a:pPr indent="0" marL="0">
              <a:buNone/>
            </a:pPr>
            <a:r>
              <a:rPr lang="en-US" sz="1800" dirty="0">
                <a:solidFill>
                  <a:schemeClr val="bg2"/>
                </a:solidFill>
              </a:rPr>
              <a:t>Цахим лаборатори + Gemma 4 AI үнэлгээ. Сурагч бүрд туршиж суралцах боломж, багш бүрд ухаалгаар ажиллах нөхцөл.</a:t>
            </a:r>
            <a:endParaRPr lang="en-US" sz="1800" dirty="0"/>
          </a:p>
        </p:txBody>
      </p:sp>
      <p:sp>
        <p:nvSpPr>
          <p:cNvPr id="4" name="Text 2"/>
          <p:cNvSpPr txBox="1"/>
          <p:nvPr/>
        </p:nvSpPr>
        <p:spPr>
          <a:xfrm>
            <a:off x="548640" y="4343400"/>
            <a:ext cx="4937760" cy="274320"/>
          </a:xfrm>
          <a:prstGeom prst="rect">
            <a:avLst/>
          </a:prstGeom>
          <a:noFill/>
          <a:ln/>
        </p:spPr>
        <p:txBody>
          <a:bodyPr wrap="square" lIns="0" tIns="0" rIns="0" bIns="0" rtlCol="0" anchor="ctr"/>
          <a:lstStyle/>
          <a:p>
            <a:pPr indent="0" marL="0">
              <a:buNone/>
            </a:pPr>
            <a:r>
              <a:rPr lang="en-US" sz="1100" dirty="0">
                <a:solidFill>
                  <a:schemeClr val="accent6"/>
                </a:solidFill>
              </a:rPr>
              <a:t>erxes plugin · Hacktoberfest Hack Day Ulaanbaatar × erxes Hub · 2026-10-24</a:t>
            </a:r>
            <a:endParaRPr lang="en-US" sz="1100" dirty="0"/>
          </a:p>
        </p:txBody>
      </p:sp>
      <p:pic>
        <p:nvPicPr>
          <p:cNvPr id="5" name="Image 0" descr="Титрлэлтийн lab: цайвар ягаан болсон мөч">    </p:cNvPr>
          <p:cNvPicPr>
            <a:picLocks noChangeAspect="1"/>
          </p:cNvPicPr>
          <p:nvPr/>
        </p:nvPicPr>
        <p:blipFill>
          <a:blip r:embed="rId1"/>
          <a:stretch>
            <a:fillRect/>
          </a:stretch>
        </p:blipFill>
        <p:spPr>
          <a:xfrm>
            <a:off x="5486400" y="960120"/>
            <a:ext cx="3291840" cy="2057400"/>
          </a:xfrm>
          <a:prstGeom prst="rect">
            <a:avLst/>
          </a:prstGeom>
          <a:effectLst>
            <a:outerShdw sx="100000" sy="100000" kx="0" ky="0" algn="bl" rotWithShape="0" blurRad="152400" dist="50800" dir="5400000">
              <a:srgbClr val="000000">
                <a:alpha val="50000"/>
              </a:srgbClr>
            </a:outerShdw>
          </a:effectLst>
        </p:spPr>
      </p:pic>
      <p:pic>
        <p:nvPicPr>
          <p:cNvPr id="6" name="Image 1" descr="Gemma 4-ийн шалгуурын задаргаа 10/10">    </p:cNvPr>
          <p:cNvPicPr>
            <a:picLocks noChangeAspect="1"/>
          </p:cNvPicPr>
          <p:nvPr/>
        </p:nvPicPr>
        <p:blipFill>
          <a:blip r:embed="rId2"/>
          <a:stretch>
            <a:fillRect/>
          </a:stretch>
        </p:blipFill>
        <p:spPr>
          <a:xfrm>
            <a:off x="5943600" y="2606040"/>
            <a:ext cx="2834640" cy="1773936"/>
          </a:xfrm>
          <a:prstGeom prst="rect">
            <a:avLst/>
          </a:prstGeom>
          <a:effectLst>
            <a:outerShdw sx="100000" sy="100000" kx="0" ky="0" algn="bl" rotWithShape="0" blurRad="152400" dist="50800" dir="540000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01 · АСУУДАЛ</a:t>
            </a:r>
            <a:endParaRPr lang="en-US" sz="12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Лабораторигүй бол туршилтыг цээжилдэг</a:t>
            </a:r>
            <a:endParaRPr lang="en-US" sz="3000" dirty="0"/>
          </a:p>
        </p:txBody>
      </p:sp>
      <p:sp>
        <p:nvSpPr>
          <p:cNvPr id="4" name="problem-card-1"/>
          <p:cNvSpPr/>
          <p:nvPr/>
        </p:nvSpPr>
        <p:spPr>
          <a:xfrm>
            <a:off x="457200" y="1417320"/>
            <a:ext cx="2606040" cy="2743200"/>
          </a:xfrm>
          <a:prstGeom prst="roundRect">
            <a:avLst>
              <a:gd name="adj" fmla="val 4211"/>
            </a:avLst>
          </a:prstGeom>
          <a:solidFill>
            <a:schemeClr val="bg2"/>
          </a:solidFill>
          <a:ln w="12700">
            <a:solidFill>
              <a:schemeClr val="bg2"/>
            </a:solidFill>
            <a:prstDash val="solid"/>
          </a:ln>
        </p:spPr>
      </p:sp>
      <p:pic>
        <p:nvPicPr>
          <p:cNvPr id="5" name="Image 0" descr="preencoded.png">    </p:cNvPr>
          <p:cNvPicPr>
            <a:picLocks noChangeAspect="1"/>
          </p:cNvPicPr>
          <p:nvPr/>
        </p:nvPicPr>
        <p:blipFill>
          <a:blip r:embed="rId1"/>
          <a:stretch>
            <a:fillRect/>
          </a:stretch>
        </p:blipFill>
        <p:spPr>
          <a:xfrm>
            <a:off x="731520" y="1645920"/>
            <a:ext cx="548640" cy="548640"/>
          </a:xfrm>
          <a:prstGeom prst="rect">
            <a:avLst/>
          </a:prstGeom>
        </p:spPr>
      </p:pic>
      <p:sp>
        <p:nvSpPr>
          <p:cNvPr id="6" name="Text 3"/>
          <p:cNvSpPr txBox="1"/>
          <p:nvPr/>
        </p:nvSpPr>
        <p:spPr>
          <a:xfrm>
            <a:off x="731520" y="2331720"/>
            <a:ext cx="2103120" cy="548640"/>
          </a:xfrm>
          <a:prstGeom prst="rect">
            <a:avLst/>
          </a:prstGeom>
          <a:noFill/>
          <a:ln/>
        </p:spPr>
        <p:txBody>
          <a:bodyPr wrap="square" lIns="0" tIns="0" rIns="0" bIns="0" rtlCol="0" anchor="t"/>
          <a:lstStyle/>
          <a:p>
            <a:pPr indent="0" marL="0">
              <a:buNone/>
            </a:pPr>
            <a:r>
              <a:rPr lang="en-US" sz="1700" b="1" dirty="0">
                <a:solidFill>
                  <a:schemeClr val="tx1"/>
                </a:solidFill>
              </a:rPr>
              <a:t>Лаборатори хүрэлцдэггүй</a:t>
            </a:r>
            <a:endParaRPr lang="en-US" sz="1700" dirty="0"/>
          </a:p>
        </p:txBody>
      </p:sp>
      <p:sp>
        <p:nvSpPr>
          <p:cNvPr id="7" name="Text 4"/>
          <p:cNvSpPr txBox="1"/>
          <p:nvPr/>
        </p:nvSpPr>
        <p:spPr>
          <a:xfrm>
            <a:off x="731520" y="2926080"/>
            <a:ext cx="2103120" cy="1143000"/>
          </a:xfrm>
          <a:prstGeom prst="rect">
            <a:avLst/>
          </a:prstGeom>
          <a:noFill/>
          <a:ln/>
        </p:spPr>
        <p:txBody>
          <a:bodyPr wrap="square" lIns="0" tIns="0" rIns="0" bIns="0" rtlCol="0" anchor="t"/>
          <a:lstStyle/>
          <a:p>
            <a:pPr indent="0" marL="0">
              <a:buNone/>
            </a:pPr>
            <a:r>
              <a:rPr lang="en-US" sz="1300" dirty="0">
                <a:solidFill>
                  <a:schemeClr val="tx2"/>
                </a:solidFill>
              </a:rPr>
              <a:t>Олон сургуульд тоног төхөөрөмж, байгалийн ухааны багш дутагдаж, сурагчид онолоо туршилтаар бататгаж чаддаггүй.</a:t>
            </a:r>
            <a:endParaRPr lang="en-US" sz="1300" dirty="0"/>
          </a:p>
        </p:txBody>
      </p:sp>
      <p:sp>
        <p:nvSpPr>
          <p:cNvPr id="8" name="problem-card-2"/>
          <p:cNvSpPr/>
          <p:nvPr/>
        </p:nvSpPr>
        <p:spPr>
          <a:xfrm>
            <a:off x="3246120" y="1417320"/>
            <a:ext cx="2606040" cy="2743200"/>
          </a:xfrm>
          <a:prstGeom prst="roundRect">
            <a:avLst>
              <a:gd name="adj" fmla="val 4211"/>
            </a:avLst>
          </a:prstGeom>
          <a:solidFill>
            <a:schemeClr val="bg2"/>
          </a:solidFill>
          <a:ln w="12700">
            <a:solidFill>
              <a:schemeClr val="bg2"/>
            </a:solidFill>
            <a:prstDash val="solid"/>
          </a:ln>
        </p:spPr>
      </p:sp>
      <p:pic>
        <p:nvPicPr>
          <p:cNvPr id="9" name="Image 1" descr="preencoded.png">    </p:cNvPr>
          <p:cNvPicPr>
            <a:picLocks noChangeAspect="1"/>
          </p:cNvPicPr>
          <p:nvPr/>
        </p:nvPicPr>
        <p:blipFill>
          <a:blip r:embed="rId2"/>
          <a:stretch>
            <a:fillRect/>
          </a:stretch>
        </p:blipFill>
        <p:spPr>
          <a:xfrm>
            <a:off x="3520440" y="1645920"/>
            <a:ext cx="548640" cy="548640"/>
          </a:xfrm>
          <a:prstGeom prst="rect">
            <a:avLst/>
          </a:prstGeom>
        </p:spPr>
      </p:pic>
      <p:sp>
        <p:nvSpPr>
          <p:cNvPr id="10" name="Text 6"/>
          <p:cNvSpPr txBox="1"/>
          <p:nvPr/>
        </p:nvSpPr>
        <p:spPr>
          <a:xfrm>
            <a:off x="3520440" y="2331720"/>
            <a:ext cx="2103120" cy="548640"/>
          </a:xfrm>
          <a:prstGeom prst="rect">
            <a:avLst/>
          </a:prstGeom>
          <a:noFill/>
          <a:ln/>
        </p:spPr>
        <p:txBody>
          <a:bodyPr wrap="square" lIns="0" tIns="0" rIns="0" bIns="0" rtlCol="0" anchor="t"/>
          <a:lstStyle/>
          <a:p>
            <a:pPr indent="0" marL="0">
              <a:buNone/>
            </a:pPr>
            <a:r>
              <a:rPr lang="en-US" sz="1700" b="1" dirty="0">
                <a:solidFill>
                  <a:schemeClr val="tx1"/>
                </a:solidFill>
              </a:rPr>
              <a:t>Багш шалгахад цаг алддаг</a:t>
            </a:r>
            <a:endParaRPr lang="en-US" sz="1700" dirty="0"/>
          </a:p>
        </p:txBody>
      </p:sp>
      <p:sp>
        <p:nvSpPr>
          <p:cNvPr id="11" name="Text 7"/>
          <p:cNvSpPr txBox="1"/>
          <p:nvPr/>
        </p:nvSpPr>
        <p:spPr>
          <a:xfrm>
            <a:off x="3520440" y="2926080"/>
            <a:ext cx="2103120" cy="1143000"/>
          </a:xfrm>
          <a:prstGeom prst="rect">
            <a:avLst/>
          </a:prstGeom>
          <a:noFill/>
          <a:ln/>
        </p:spPr>
        <p:txBody>
          <a:bodyPr wrap="square" lIns="0" tIns="0" rIns="0" bIns="0" rtlCol="0" anchor="t"/>
          <a:lstStyle/>
          <a:p>
            <a:pPr indent="0" marL="0">
              <a:buNone/>
            </a:pPr>
            <a:r>
              <a:rPr lang="en-US" sz="1300" dirty="0">
                <a:solidFill>
                  <a:schemeClr val="tx2"/>
                </a:solidFill>
              </a:rPr>
              <a:t>Лабораторийн тайлан бүрийн дүгнэлт хэмжилттэйгээ нийцэж байгаа эсэхийг гараар тулгадаг.</a:t>
            </a:r>
            <a:endParaRPr lang="en-US" sz="1300" dirty="0"/>
          </a:p>
        </p:txBody>
      </p:sp>
      <p:sp>
        <p:nvSpPr>
          <p:cNvPr id="12" name="problem-card-3"/>
          <p:cNvSpPr/>
          <p:nvPr/>
        </p:nvSpPr>
        <p:spPr>
          <a:xfrm>
            <a:off x="6035040" y="1417320"/>
            <a:ext cx="2606040" cy="2743200"/>
          </a:xfrm>
          <a:prstGeom prst="roundRect">
            <a:avLst>
              <a:gd name="adj" fmla="val 4211"/>
            </a:avLst>
          </a:prstGeom>
          <a:solidFill>
            <a:schemeClr val="bg2"/>
          </a:solidFill>
          <a:ln w="12700">
            <a:solidFill>
              <a:schemeClr val="bg2"/>
            </a:solidFill>
            <a:prstDash val="solid"/>
          </a:ln>
        </p:spPr>
      </p:sp>
      <p:pic>
        <p:nvPicPr>
          <p:cNvPr id="13" name="Image 2" descr="preencoded.png">    </p:cNvPr>
          <p:cNvPicPr>
            <a:picLocks noChangeAspect="1"/>
          </p:cNvPicPr>
          <p:nvPr/>
        </p:nvPicPr>
        <p:blipFill>
          <a:blip r:embed="rId3"/>
          <a:stretch>
            <a:fillRect/>
          </a:stretch>
        </p:blipFill>
        <p:spPr>
          <a:xfrm>
            <a:off x="6309360" y="1645920"/>
            <a:ext cx="548640" cy="548640"/>
          </a:xfrm>
          <a:prstGeom prst="rect">
            <a:avLst/>
          </a:prstGeom>
        </p:spPr>
      </p:pic>
      <p:sp>
        <p:nvSpPr>
          <p:cNvPr id="14" name="Text 9"/>
          <p:cNvSpPr txBox="1"/>
          <p:nvPr/>
        </p:nvSpPr>
        <p:spPr>
          <a:xfrm>
            <a:off x="6309360" y="2331720"/>
            <a:ext cx="2103120" cy="548640"/>
          </a:xfrm>
          <a:prstGeom prst="rect">
            <a:avLst/>
          </a:prstGeom>
          <a:noFill/>
          <a:ln/>
        </p:spPr>
        <p:txBody>
          <a:bodyPr wrap="square" lIns="0" tIns="0" rIns="0" bIns="0" rtlCol="0" anchor="t"/>
          <a:lstStyle/>
          <a:p>
            <a:pPr indent="0" marL="0">
              <a:buNone/>
            </a:pPr>
            <a:r>
              <a:rPr lang="en-US" sz="1700" b="1" dirty="0">
                <a:solidFill>
                  <a:schemeClr val="tx1"/>
                </a:solidFill>
              </a:rPr>
              <a:t>Ахицыг үнэлэх боломж хомс</a:t>
            </a:r>
            <a:endParaRPr lang="en-US" sz="1700" dirty="0"/>
          </a:p>
        </p:txBody>
      </p:sp>
      <p:sp>
        <p:nvSpPr>
          <p:cNvPr id="15" name="Text 10"/>
          <p:cNvSpPr txBox="1"/>
          <p:nvPr/>
        </p:nvSpPr>
        <p:spPr>
          <a:xfrm>
            <a:off x="6309360" y="2926080"/>
            <a:ext cx="2103120" cy="1143000"/>
          </a:xfrm>
          <a:prstGeom prst="rect">
            <a:avLst/>
          </a:prstGeom>
          <a:noFill/>
          <a:ln/>
        </p:spPr>
        <p:txBody>
          <a:bodyPr wrap="square" lIns="0" tIns="0" rIns="0" bIns="0" rtlCol="0" anchor="t"/>
          <a:lstStyle/>
          <a:p>
            <a:pPr indent="0" marL="0">
              <a:buNone/>
            </a:pPr>
            <a:r>
              <a:rPr lang="en-US" sz="1300" dirty="0">
                <a:solidFill>
                  <a:schemeClr val="tx2"/>
                </a:solidFill>
              </a:rPr>
              <a:t>Сурагч бүрийн алдаа, суралцах хэрэгцээг тогтмол хянах хэрэгсэл алга.</a:t>
            </a:r>
            <a:endParaRPr lang="en-US" sz="1300" dirty="0"/>
          </a:p>
        </p:txBody>
      </p:sp>
      <p:sp>
        <p:nvSpPr>
          <p:cNvPr id="16" name="Text 11"/>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300" b="1" dirty="0">
                <a:solidFill>
                  <a:schemeClr val="accent1"/>
                </a:solidFill>
              </a:rPr>
              <a:t>Хэнд: </a:t>
            </a:r>
            <a:pPr indent="0" marL="0">
              <a:buNone/>
            </a:pPr>
            <a:r>
              <a:rPr lang="en-US" sz="1300" dirty="0">
                <a:solidFill>
                  <a:schemeClr val="tx2"/>
                </a:solidFill>
              </a:rPr>
              <a:t>8–12-р ангийн сурагч · физик, химийн багш · лабораторийн нөөц хязгаарлагдмал сургууль</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02 · ШИЙДЭЛ</a:t>
            </a:r>
            <a:endParaRPr lang="en-US" sz="12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Туршиж сур, AI үнэлнэ, багш батална</a:t>
            </a:r>
            <a:endParaRPr lang="en-US" sz="3000" dirty="0"/>
          </a:p>
        </p:txBody>
      </p:sp>
      <p:sp>
        <p:nvSpPr>
          <p:cNvPr id="4" name="Shape 2"/>
          <p:cNvSpPr/>
          <p:nvPr/>
        </p:nvSpPr>
        <p:spPr>
          <a:xfrm>
            <a:off x="457200" y="1371600"/>
            <a:ext cx="640080" cy="640080"/>
          </a:xfrm>
          <a:prstGeom prst="ellipse">
            <a:avLst/>
          </a:prstGeom>
          <a:solidFill>
            <a:srgbClr val="7C6CF2"/>
          </a:solidFill>
          <a:ln w="12700">
            <a:solidFill>
              <a:srgbClr val="7C6CF2"/>
            </a:solidFill>
            <a:prstDash val="solid"/>
          </a:ln>
        </p:spPr>
      </p:sp>
      <p:pic>
        <p:nvPicPr>
          <p:cNvPr id="5" name="Image 0" descr="preencoded.png">    </p:cNvPr>
          <p:cNvPicPr>
            <a:picLocks noChangeAspect="1"/>
          </p:cNvPicPr>
          <p:nvPr/>
        </p:nvPicPr>
        <p:blipFill>
          <a:blip r:embed="rId1"/>
          <a:stretch>
            <a:fillRect/>
          </a:stretch>
        </p:blipFill>
        <p:spPr>
          <a:xfrm>
            <a:off x="598018" y="1512418"/>
            <a:ext cx="358445" cy="358445"/>
          </a:xfrm>
          <a:prstGeom prst="rect">
            <a:avLst/>
          </a:prstGeom>
        </p:spPr>
      </p:pic>
      <p:sp>
        <p:nvSpPr>
          <p:cNvPr id="6" name="Text 3"/>
          <p:cNvSpPr txBox="1"/>
          <p:nvPr/>
        </p:nvSpPr>
        <p:spPr>
          <a:xfrm>
            <a:off x="1280160" y="1353312"/>
            <a:ext cx="3200400" cy="347472"/>
          </a:xfrm>
          <a:prstGeom prst="rect">
            <a:avLst/>
          </a:prstGeom>
          <a:noFill/>
          <a:ln/>
        </p:spPr>
        <p:txBody>
          <a:bodyPr wrap="square" lIns="0" tIns="0" rIns="0" bIns="0" rtlCol="0" anchor="ctr"/>
          <a:lstStyle/>
          <a:p>
            <a:pPr indent="0" marL="0">
              <a:buNone/>
            </a:pPr>
            <a:r>
              <a:rPr lang="en-US" sz="1600" b="1" dirty="0">
                <a:solidFill>
                  <a:schemeClr val="tx1"/>
                </a:solidFill>
              </a:rPr>
              <a:t>Сурагч lab-д туршилт хийнэ</a:t>
            </a:r>
            <a:endParaRPr lang="en-US" sz="1600" dirty="0"/>
          </a:p>
        </p:txBody>
      </p:sp>
      <p:sp>
        <p:nvSpPr>
          <p:cNvPr id="7" name="Text 4"/>
          <p:cNvSpPr txBox="1"/>
          <p:nvPr/>
        </p:nvSpPr>
        <p:spPr>
          <a:xfrm>
            <a:off x="1280160" y="1700784"/>
            <a:ext cx="3200400" cy="594360"/>
          </a:xfrm>
          <a:prstGeom prst="rect">
            <a:avLst/>
          </a:prstGeom>
          <a:noFill/>
          <a:ln/>
        </p:spPr>
        <p:txBody>
          <a:bodyPr wrap="square" lIns="0" tIns="0" rIns="0" bIns="0" rtlCol="0" anchor="t"/>
          <a:lstStyle/>
          <a:p>
            <a:pPr indent="0" marL="0">
              <a:buNone/>
            </a:pPr>
            <a:r>
              <a:rPr lang="en-US" sz="1300" dirty="0">
                <a:solidFill>
                  <a:schemeClr val="tx2"/>
                </a:solidFill>
              </a:rPr>
              <a:t>Омын хууль, математик дүүжин, хүчил-шүлтийн титрлэлт. Таамаглал → хэмжилт → дүгнэлт.</a:t>
            </a:r>
            <a:endParaRPr lang="en-US" sz="1300" dirty="0"/>
          </a:p>
        </p:txBody>
      </p:sp>
      <p:sp>
        <p:nvSpPr>
          <p:cNvPr id="8" name="Shape 5"/>
          <p:cNvSpPr/>
          <p:nvPr/>
        </p:nvSpPr>
        <p:spPr>
          <a:xfrm>
            <a:off x="457200" y="2450592"/>
            <a:ext cx="640080" cy="640080"/>
          </a:xfrm>
          <a:prstGeom prst="ellipse">
            <a:avLst/>
          </a:prstGeom>
          <a:solidFill>
            <a:srgbClr val="EC4899"/>
          </a:solidFill>
          <a:ln w="12700">
            <a:solidFill>
              <a:srgbClr val="EC4899"/>
            </a:solidFill>
            <a:prstDash val="solid"/>
          </a:ln>
        </p:spPr>
      </p:sp>
      <p:pic>
        <p:nvPicPr>
          <p:cNvPr id="9" name="Image 1" descr="preencoded.png">    </p:cNvPr>
          <p:cNvPicPr>
            <a:picLocks noChangeAspect="1"/>
          </p:cNvPicPr>
          <p:nvPr/>
        </p:nvPicPr>
        <p:blipFill>
          <a:blip r:embed="rId2"/>
          <a:stretch>
            <a:fillRect/>
          </a:stretch>
        </p:blipFill>
        <p:spPr>
          <a:xfrm>
            <a:off x="598018" y="2591410"/>
            <a:ext cx="358445" cy="358445"/>
          </a:xfrm>
          <a:prstGeom prst="rect">
            <a:avLst/>
          </a:prstGeom>
        </p:spPr>
      </p:pic>
      <p:sp>
        <p:nvSpPr>
          <p:cNvPr id="10" name="Text 6"/>
          <p:cNvSpPr txBox="1"/>
          <p:nvPr/>
        </p:nvSpPr>
        <p:spPr>
          <a:xfrm>
            <a:off x="1280160" y="2432304"/>
            <a:ext cx="3200400" cy="347472"/>
          </a:xfrm>
          <a:prstGeom prst="rect">
            <a:avLst/>
          </a:prstGeom>
          <a:noFill/>
          <a:ln/>
        </p:spPr>
        <p:txBody>
          <a:bodyPr wrap="square" lIns="0" tIns="0" rIns="0" bIns="0" rtlCol="0" anchor="ctr"/>
          <a:lstStyle/>
          <a:p>
            <a:pPr indent="0" marL="0">
              <a:buNone/>
            </a:pPr>
            <a:r>
              <a:rPr lang="en-US" sz="1600" b="1" dirty="0">
                <a:solidFill>
                  <a:schemeClr val="tx1"/>
                </a:solidFill>
              </a:rPr>
              <a:t>Gemma 4 хэмжилттэй тулгаж үнэлнэ</a:t>
            </a:r>
            <a:endParaRPr lang="en-US" sz="1600" dirty="0"/>
          </a:p>
        </p:txBody>
      </p:sp>
      <p:sp>
        <p:nvSpPr>
          <p:cNvPr id="11" name="Text 7"/>
          <p:cNvSpPr txBox="1"/>
          <p:nvPr/>
        </p:nvSpPr>
        <p:spPr>
          <a:xfrm>
            <a:off x="1280160" y="2779776"/>
            <a:ext cx="3200400" cy="594360"/>
          </a:xfrm>
          <a:prstGeom prst="rect">
            <a:avLst/>
          </a:prstGeom>
          <a:noFill/>
          <a:ln/>
        </p:spPr>
        <p:txBody>
          <a:bodyPr wrap="square" lIns="0" tIns="0" rIns="0" bIns="0" rtlCol="0" anchor="t"/>
          <a:lstStyle/>
          <a:p>
            <a:pPr indent="0" marL="0">
              <a:buNone/>
            </a:pPr>
            <a:r>
              <a:rPr lang="en-US" sz="1300" dirty="0">
                <a:solidFill>
                  <a:schemeClr val="tx2"/>
                </a:solidFill>
              </a:rPr>
              <a:t>Сервер хэмжилтээс баримт тооцоолж, AI дүгнэлтийг rubric-ийн шалгуур бүрээр дүгнэнэ.</a:t>
            </a:r>
            <a:endParaRPr lang="en-US" sz="1300" dirty="0"/>
          </a:p>
        </p:txBody>
      </p:sp>
      <p:sp>
        <p:nvSpPr>
          <p:cNvPr id="12" name="Shape 8"/>
          <p:cNvSpPr/>
          <p:nvPr/>
        </p:nvSpPr>
        <p:spPr>
          <a:xfrm>
            <a:off x="457200" y="3529584"/>
            <a:ext cx="640080" cy="640080"/>
          </a:xfrm>
          <a:prstGeom prst="ellipse">
            <a:avLst/>
          </a:prstGeom>
          <a:solidFill>
            <a:srgbClr val="10B981"/>
          </a:solidFill>
          <a:ln w="12700">
            <a:solidFill>
              <a:srgbClr val="10B981"/>
            </a:solidFill>
            <a:prstDash val="solid"/>
          </a:ln>
        </p:spPr>
      </p:sp>
      <p:pic>
        <p:nvPicPr>
          <p:cNvPr id="13" name="Image 2" descr="preencoded.png">    </p:cNvPr>
          <p:cNvPicPr>
            <a:picLocks noChangeAspect="1"/>
          </p:cNvPicPr>
          <p:nvPr/>
        </p:nvPicPr>
        <p:blipFill>
          <a:blip r:embed="rId3"/>
          <a:stretch>
            <a:fillRect/>
          </a:stretch>
        </p:blipFill>
        <p:spPr>
          <a:xfrm>
            <a:off x="598018" y="3670402"/>
            <a:ext cx="358445" cy="358445"/>
          </a:xfrm>
          <a:prstGeom prst="rect">
            <a:avLst/>
          </a:prstGeom>
        </p:spPr>
      </p:pic>
      <p:sp>
        <p:nvSpPr>
          <p:cNvPr id="14" name="Text 9"/>
          <p:cNvSpPr txBox="1"/>
          <p:nvPr/>
        </p:nvSpPr>
        <p:spPr>
          <a:xfrm>
            <a:off x="1280160" y="3511296"/>
            <a:ext cx="3200400" cy="347472"/>
          </a:xfrm>
          <a:prstGeom prst="rect">
            <a:avLst/>
          </a:prstGeom>
          <a:noFill/>
          <a:ln/>
        </p:spPr>
        <p:txBody>
          <a:bodyPr wrap="square" lIns="0" tIns="0" rIns="0" bIns="0" rtlCol="0" anchor="ctr"/>
          <a:lstStyle/>
          <a:p>
            <a:pPr indent="0" marL="0">
              <a:buNone/>
            </a:pPr>
            <a:r>
              <a:rPr lang="en-US" sz="1600" b="1" dirty="0">
                <a:solidFill>
                  <a:schemeClr val="tx1"/>
                </a:solidFill>
              </a:rPr>
              <a:t>Багш нэг товчоор батална</a:t>
            </a:r>
            <a:endParaRPr lang="en-US" sz="1600" dirty="0"/>
          </a:p>
        </p:txBody>
      </p:sp>
      <p:sp>
        <p:nvSpPr>
          <p:cNvPr id="15" name="Text 10"/>
          <p:cNvSpPr txBox="1"/>
          <p:nvPr/>
        </p:nvSpPr>
        <p:spPr>
          <a:xfrm>
            <a:off x="1280160" y="3858768"/>
            <a:ext cx="3200400" cy="594360"/>
          </a:xfrm>
          <a:prstGeom prst="rect">
            <a:avLst/>
          </a:prstGeom>
          <a:noFill/>
          <a:ln/>
        </p:spPr>
        <p:txBody>
          <a:bodyPr wrap="square" lIns="0" tIns="0" rIns="0" bIns="0" rtlCol="0" anchor="t"/>
          <a:lstStyle/>
          <a:p>
            <a:pPr indent="0" marL="0">
              <a:buNone/>
            </a:pPr>
            <a:r>
              <a:rPr lang="en-US" sz="1300" dirty="0">
                <a:solidFill>
                  <a:schemeClr val="tx2"/>
                </a:solidFill>
              </a:rPr>
              <a:t>AI-ийн саналыг хянаж, засаж, эцсийн оноог багш өгнө.</a:t>
            </a:r>
            <a:endParaRPr lang="en-US" sz="1300" dirty="0"/>
          </a:p>
        </p:txBody>
      </p:sp>
      <p:pic>
        <p:nvPicPr>
          <p:cNvPr id="16" name="Image 3" descr="Шалгуур бүрээр задалсан AI үнэлгээ">    </p:cNvPr>
          <p:cNvPicPr>
            <a:picLocks noChangeAspect="1"/>
          </p:cNvPicPr>
          <p:nvPr/>
        </p:nvPicPr>
        <p:blipFill>
          <a:blip r:embed="rId4"/>
          <a:stretch>
            <a:fillRect/>
          </a:stretch>
        </p:blipFill>
        <p:spPr>
          <a:xfrm>
            <a:off x="4800600" y="1325880"/>
            <a:ext cx="3886200" cy="2432304"/>
          </a:xfrm>
          <a:prstGeom prst="rect">
            <a:avLst/>
          </a:prstGeom>
          <a:effectLst>
            <a:outerShdw sx="100000" sy="100000" kx="0" ky="0" algn="bl" rotWithShape="0" blurRad="127000" dist="38100" dir="5400000">
              <a:srgbClr val="000000">
                <a:alpha val="30000"/>
              </a:srgbClr>
            </a:outerShdw>
          </a:effectLst>
        </p:spPr>
      </p:pic>
      <p:sp>
        <p:nvSpPr>
          <p:cNvPr id="17" name="Text 11"/>
          <p:cNvSpPr txBox="1"/>
          <p:nvPr/>
        </p:nvSpPr>
        <p:spPr>
          <a:xfrm>
            <a:off x="4800600" y="3840480"/>
            <a:ext cx="3886200" cy="457200"/>
          </a:xfrm>
          <a:prstGeom prst="rect">
            <a:avLst/>
          </a:prstGeom>
          <a:noFill/>
          <a:ln/>
        </p:spPr>
        <p:txBody>
          <a:bodyPr wrap="square" lIns="0" tIns="0" rIns="0" bIns="0" rtlCol="0" anchor="ctr"/>
          <a:lstStyle/>
          <a:p>
            <a:pPr indent="0" marL="0">
              <a:buNone/>
            </a:pPr>
            <a:r>
              <a:rPr lang="en-US" sz="1200" i="1" dirty="0">
                <a:solidFill>
                  <a:schemeClr val="accent6"/>
                </a:solidFill>
              </a:rPr>
              <a:t>AI санал: шалгуур бүрээр оноо, тайлбар → «Ашиглах» → багш батална</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03 · DEMO</a:t>
            </a:r>
            <a:endParaRPr lang="en-US" sz="12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Багш даалгавар өгнө, AI шалгана</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280160"/>
            <a:ext cx="5852160" cy="3291840"/>
          </a:xfrm>
          <a:prstGeom prst="rect">
            <a:avLst/>
          </a:prstGeom>
        </p:spPr>
      </p:pic>
      <p:sp>
        <p:nvSpPr>
          <p:cNvPr id="5" name="Shape 2"/>
          <p:cNvSpPr/>
          <p:nvPr/>
        </p:nvSpPr>
        <p:spPr>
          <a:xfrm>
            <a:off x="6537960" y="1325880"/>
            <a:ext cx="347472" cy="347472"/>
          </a:xfrm>
          <a:prstGeom prst="ellipse">
            <a:avLst/>
          </a:prstGeom>
          <a:solidFill>
            <a:schemeClr val="accent1"/>
          </a:solidFill>
          <a:ln w="12700">
            <a:solidFill>
              <a:schemeClr val="accent1"/>
            </a:solidFill>
            <a:prstDash val="solid"/>
          </a:ln>
        </p:spPr>
      </p:sp>
      <p:sp>
        <p:nvSpPr>
          <p:cNvPr id="6" name="Text 3"/>
          <p:cNvSpPr txBox="1"/>
          <p:nvPr/>
        </p:nvSpPr>
        <p:spPr>
          <a:xfrm>
            <a:off x="6537960" y="13258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4"/>
          <p:cNvSpPr txBox="1"/>
          <p:nvPr/>
        </p:nvSpPr>
        <p:spPr>
          <a:xfrm>
            <a:off x="6995160" y="1307592"/>
            <a:ext cx="1783080" cy="384048"/>
          </a:xfrm>
          <a:prstGeom prst="rect">
            <a:avLst/>
          </a:prstGeom>
          <a:noFill/>
          <a:ln/>
        </p:spPr>
        <p:txBody>
          <a:bodyPr wrap="square" lIns="0" tIns="0" rIns="0" bIns="0" rtlCol="0" anchor="ctr"/>
          <a:lstStyle/>
          <a:p>
            <a:pPr indent="0" marL="0">
              <a:buNone/>
            </a:pPr>
            <a:r>
              <a:rPr lang="en-US" sz="1200" dirty="0">
                <a:solidFill>
                  <a:schemeClr val="tx1"/>
                </a:solidFill>
              </a:rPr>
              <a:t>Багш, анги, сурагч</a:t>
            </a:r>
            <a:endParaRPr lang="en-US" sz="1200" dirty="0"/>
          </a:p>
        </p:txBody>
      </p:sp>
      <p:sp>
        <p:nvSpPr>
          <p:cNvPr id="8" name="Shape 5"/>
          <p:cNvSpPr/>
          <p:nvPr/>
        </p:nvSpPr>
        <p:spPr>
          <a:xfrm>
            <a:off x="6537960" y="1874520"/>
            <a:ext cx="347472" cy="347472"/>
          </a:xfrm>
          <a:prstGeom prst="ellipse">
            <a:avLst/>
          </a:prstGeom>
          <a:solidFill>
            <a:schemeClr val="accent1"/>
          </a:solidFill>
          <a:ln w="12700">
            <a:solidFill>
              <a:schemeClr val="accent1"/>
            </a:solidFill>
            <a:prstDash val="solid"/>
          </a:ln>
        </p:spPr>
      </p:sp>
      <p:sp>
        <p:nvSpPr>
          <p:cNvPr id="9" name="Text 6"/>
          <p:cNvSpPr txBox="1"/>
          <p:nvPr/>
        </p:nvSpPr>
        <p:spPr>
          <a:xfrm>
            <a:off x="6537960" y="187452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7"/>
          <p:cNvSpPr txBox="1"/>
          <p:nvPr/>
        </p:nvSpPr>
        <p:spPr>
          <a:xfrm>
            <a:off x="6995160" y="1856232"/>
            <a:ext cx="1783080" cy="384048"/>
          </a:xfrm>
          <a:prstGeom prst="rect">
            <a:avLst/>
          </a:prstGeom>
          <a:noFill/>
          <a:ln/>
        </p:spPr>
        <p:txBody>
          <a:bodyPr wrap="square" lIns="0" tIns="0" rIns="0" bIns="0" rtlCol="0" anchor="ctr"/>
          <a:lstStyle/>
          <a:p>
            <a:pPr indent="0" marL="0">
              <a:buNone/>
            </a:pPr>
            <a:r>
              <a:rPr lang="en-US" sz="1200" dirty="0">
                <a:solidFill>
                  <a:schemeClr val="tx1"/>
                </a:solidFill>
              </a:rPr>
              <a:t>erxes Contacts холбоос</a:t>
            </a:r>
            <a:endParaRPr lang="en-US" sz="1200" dirty="0"/>
          </a:p>
        </p:txBody>
      </p:sp>
      <p:sp>
        <p:nvSpPr>
          <p:cNvPr id="11" name="Shape 8"/>
          <p:cNvSpPr/>
          <p:nvPr/>
        </p:nvSpPr>
        <p:spPr>
          <a:xfrm>
            <a:off x="6537960" y="2423160"/>
            <a:ext cx="347472" cy="347472"/>
          </a:xfrm>
          <a:prstGeom prst="ellipse">
            <a:avLst/>
          </a:prstGeom>
          <a:solidFill>
            <a:schemeClr val="accent1"/>
          </a:solidFill>
          <a:ln w="12700">
            <a:solidFill>
              <a:schemeClr val="accent1"/>
            </a:solidFill>
            <a:prstDash val="solid"/>
          </a:ln>
        </p:spPr>
      </p:sp>
      <p:sp>
        <p:nvSpPr>
          <p:cNvPr id="12" name="Text 9"/>
          <p:cNvSpPr txBox="1"/>
          <p:nvPr/>
        </p:nvSpPr>
        <p:spPr>
          <a:xfrm>
            <a:off x="6537960" y="24231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0"/>
          <p:cNvSpPr txBox="1"/>
          <p:nvPr/>
        </p:nvSpPr>
        <p:spPr>
          <a:xfrm>
            <a:off x="6995160" y="2404872"/>
            <a:ext cx="1783080" cy="384048"/>
          </a:xfrm>
          <a:prstGeom prst="rect">
            <a:avLst/>
          </a:prstGeom>
          <a:noFill/>
          <a:ln/>
        </p:spPr>
        <p:txBody>
          <a:bodyPr wrap="square" lIns="0" tIns="0" rIns="0" bIns="0" rtlCol="0" anchor="ctr"/>
          <a:lstStyle/>
          <a:p>
            <a:pPr indent="0" marL="0">
              <a:buNone/>
            </a:pPr>
            <a:r>
              <a:rPr lang="en-US" sz="1200" dirty="0">
                <a:solidFill>
                  <a:schemeClr val="tx1"/>
                </a:solidFill>
              </a:rPr>
              <a:t>Даалгавар + шалгуур</a:t>
            </a:r>
            <a:endParaRPr lang="en-US" sz="1200" dirty="0"/>
          </a:p>
        </p:txBody>
      </p:sp>
      <p:sp>
        <p:nvSpPr>
          <p:cNvPr id="14" name="Shape 11"/>
          <p:cNvSpPr/>
          <p:nvPr/>
        </p:nvSpPr>
        <p:spPr>
          <a:xfrm>
            <a:off x="6537960" y="2971800"/>
            <a:ext cx="347472" cy="347472"/>
          </a:xfrm>
          <a:prstGeom prst="ellipse">
            <a:avLst/>
          </a:prstGeom>
          <a:solidFill>
            <a:schemeClr val="accent1"/>
          </a:solidFill>
          <a:ln w="12700">
            <a:solidFill>
              <a:schemeClr val="accent1"/>
            </a:solidFill>
            <a:prstDash val="solid"/>
          </a:ln>
        </p:spPr>
      </p:sp>
      <p:sp>
        <p:nvSpPr>
          <p:cNvPr id="15" name="Text 12"/>
          <p:cNvSpPr txBox="1"/>
          <p:nvPr/>
        </p:nvSpPr>
        <p:spPr>
          <a:xfrm>
            <a:off x="6537960" y="297180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Text 13"/>
          <p:cNvSpPr txBox="1"/>
          <p:nvPr/>
        </p:nvSpPr>
        <p:spPr>
          <a:xfrm>
            <a:off x="6995160" y="2953512"/>
            <a:ext cx="1783080" cy="384048"/>
          </a:xfrm>
          <a:prstGeom prst="rect">
            <a:avLst/>
          </a:prstGeom>
          <a:noFill/>
          <a:ln/>
        </p:spPr>
        <p:txBody>
          <a:bodyPr wrap="square" lIns="0" tIns="0" rIns="0" bIns="0" rtlCol="0" anchor="ctr"/>
          <a:lstStyle/>
          <a:p>
            <a:pPr indent="0" marL="0">
              <a:buNone/>
            </a:pPr>
            <a:r>
              <a:rPr lang="en-US" sz="1200" dirty="0">
                <a:solidFill>
                  <a:schemeClr val="tx1"/>
                </a:solidFill>
              </a:rPr>
              <a:t>Сурагч: титрлэлт</a:t>
            </a:r>
            <a:endParaRPr lang="en-US" sz="1200" dirty="0"/>
          </a:p>
        </p:txBody>
      </p:sp>
      <p:sp>
        <p:nvSpPr>
          <p:cNvPr id="17" name="Shape 14"/>
          <p:cNvSpPr/>
          <p:nvPr/>
        </p:nvSpPr>
        <p:spPr>
          <a:xfrm>
            <a:off x="6537960" y="3520440"/>
            <a:ext cx="347472" cy="347472"/>
          </a:xfrm>
          <a:prstGeom prst="ellipse">
            <a:avLst/>
          </a:prstGeom>
          <a:solidFill>
            <a:schemeClr val="accent1"/>
          </a:solidFill>
          <a:ln w="12700">
            <a:solidFill>
              <a:schemeClr val="accent1"/>
            </a:solidFill>
            <a:prstDash val="solid"/>
          </a:ln>
        </p:spPr>
      </p:sp>
      <p:sp>
        <p:nvSpPr>
          <p:cNvPr id="18" name="Text 15"/>
          <p:cNvSpPr txBox="1"/>
          <p:nvPr/>
        </p:nvSpPr>
        <p:spPr>
          <a:xfrm>
            <a:off x="6537960" y="352044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9" name="Text 16"/>
          <p:cNvSpPr txBox="1"/>
          <p:nvPr/>
        </p:nvSpPr>
        <p:spPr>
          <a:xfrm>
            <a:off x="6995160" y="3502152"/>
            <a:ext cx="1783080" cy="384048"/>
          </a:xfrm>
          <a:prstGeom prst="rect">
            <a:avLst/>
          </a:prstGeom>
          <a:noFill/>
          <a:ln/>
        </p:spPr>
        <p:txBody>
          <a:bodyPr wrap="square" lIns="0" tIns="0" rIns="0" bIns="0" rtlCol="0" anchor="ctr"/>
          <a:lstStyle/>
          <a:p>
            <a:pPr indent="0" marL="0">
              <a:buNone/>
            </a:pPr>
            <a:r>
              <a:rPr lang="en-US" sz="1200" dirty="0">
                <a:solidFill>
                  <a:schemeClr val="tx1"/>
                </a:solidFill>
              </a:rPr>
              <a:t>Gemma 4: 10 / 10</a:t>
            </a:r>
            <a:endParaRPr lang="en-US" sz="1200" dirty="0"/>
          </a:p>
        </p:txBody>
      </p:sp>
      <p:sp>
        <p:nvSpPr>
          <p:cNvPr id="20" name="Shape 17"/>
          <p:cNvSpPr/>
          <p:nvPr/>
        </p:nvSpPr>
        <p:spPr>
          <a:xfrm>
            <a:off x="6537960" y="4069080"/>
            <a:ext cx="347472" cy="347472"/>
          </a:xfrm>
          <a:prstGeom prst="ellipse">
            <a:avLst/>
          </a:prstGeom>
          <a:solidFill>
            <a:schemeClr val="accent1"/>
          </a:solidFill>
          <a:ln w="12700">
            <a:solidFill>
              <a:schemeClr val="accent1"/>
            </a:solidFill>
            <a:prstDash val="solid"/>
          </a:ln>
        </p:spPr>
      </p:sp>
      <p:sp>
        <p:nvSpPr>
          <p:cNvPr id="21" name="Text 18"/>
          <p:cNvSpPr txBox="1"/>
          <p:nvPr/>
        </p:nvSpPr>
        <p:spPr>
          <a:xfrm>
            <a:off x="6537960" y="40690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2" name="Text 19"/>
          <p:cNvSpPr txBox="1"/>
          <p:nvPr/>
        </p:nvSpPr>
        <p:spPr>
          <a:xfrm>
            <a:off x="6995160" y="4050792"/>
            <a:ext cx="1783080" cy="384048"/>
          </a:xfrm>
          <a:prstGeom prst="rect">
            <a:avLst/>
          </a:prstGeom>
          <a:noFill/>
          <a:ln/>
        </p:spPr>
        <p:txBody>
          <a:bodyPr wrap="square" lIns="0" tIns="0" rIns="0" bIns="0" rtlCol="0" anchor="ctr"/>
          <a:lstStyle/>
          <a:p>
            <a:pPr indent="0" marL="0">
              <a:buNone/>
            </a:pPr>
            <a:r>
              <a:rPr lang="en-US" sz="1200" dirty="0">
                <a:solidFill>
                  <a:schemeClr val="tx1"/>
                </a:solidFill>
              </a:rPr>
              <a:t>Багш хянаж батална</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04 · ERXES ИНТЕГРАЦ</a:t>
            </a:r>
            <a:endParaRPr lang="en-US" sz="12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erxes-ийн стандарт plugin</a:t>
            </a:r>
            <a:endParaRPr lang="en-US" sz="3000" dirty="0"/>
          </a:p>
        </p:txBody>
      </p:sp>
      <p:sp>
        <p:nvSpPr>
          <p:cNvPr id="4" name="arch-edulab_ui"/>
          <p:cNvSpPr/>
          <p:nvPr/>
        </p:nvSpPr>
        <p:spPr>
          <a:xfrm>
            <a:off x="457200" y="1371600"/>
            <a:ext cx="3291840" cy="786384"/>
          </a:xfrm>
          <a:prstGeom prst="roundRect">
            <a:avLst>
              <a:gd name="adj" fmla="val 11628"/>
            </a:avLst>
          </a:prstGeom>
          <a:solidFill>
            <a:srgbClr val="7C6CF2"/>
          </a:solidFill>
          <a:ln w="12700">
            <a:solidFill>
              <a:srgbClr val="7C6CF2"/>
            </a:solidFill>
            <a:prstDash val="solid"/>
          </a:ln>
        </p:spPr>
      </p:sp>
      <p:sp>
        <p:nvSpPr>
          <p:cNvPr id="5" name="Text 3"/>
          <p:cNvSpPr txBox="1"/>
          <p:nvPr/>
        </p:nvSpPr>
        <p:spPr>
          <a:xfrm>
            <a:off x="685800" y="1463040"/>
            <a:ext cx="2926080" cy="320040"/>
          </a:xfrm>
          <a:prstGeom prst="rect">
            <a:avLst/>
          </a:prstGeom>
          <a:noFill/>
          <a:ln/>
        </p:spPr>
        <p:txBody>
          <a:bodyPr wrap="square" lIns="0" tIns="0" rIns="0" bIns="0" rtlCol="0" anchor="ctr"/>
          <a:lstStyle/>
          <a:p>
            <a:pPr indent="0" marL="0">
              <a:buNone/>
            </a:pPr>
            <a:r>
              <a:rPr lang="en-US" sz="1600" b="1" dirty="0">
                <a:solidFill>
                  <a:schemeClr val="bg1"/>
                </a:solidFill>
              </a:rPr>
              <a:t>edulab_ui</a:t>
            </a:r>
            <a:endParaRPr lang="en-US" sz="1600" dirty="0"/>
          </a:p>
        </p:txBody>
      </p:sp>
      <p:sp>
        <p:nvSpPr>
          <p:cNvPr id="6" name="Text 4"/>
          <p:cNvSpPr txBox="1"/>
          <p:nvPr/>
        </p:nvSpPr>
        <p:spPr>
          <a:xfrm>
            <a:off x="685800" y="1783080"/>
            <a:ext cx="2926080" cy="274320"/>
          </a:xfrm>
          <a:prstGeom prst="rect">
            <a:avLst/>
          </a:prstGeom>
          <a:noFill/>
          <a:ln/>
        </p:spPr>
        <p:txBody>
          <a:bodyPr wrap="square" lIns="0" tIns="0" rIns="0" bIns="0" rtlCol="0" anchor="ctr"/>
          <a:lstStyle/>
          <a:p>
            <a:pPr indent="0" marL="0">
              <a:buNone/>
            </a:pPr>
            <a:r>
              <a:rPr lang="en-US" sz="1200" dirty="0">
                <a:solidFill>
                  <a:schemeClr val="bg2"/>
                </a:solidFill>
              </a:rPr>
              <a:t>React · Module Federation remote</a:t>
            </a:r>
            <a:endParaRPr lang="en-US" sz="1200" dirty="0"/>
          </a:p>
        </p:txBody>
      </p:sp>
      <p:sp>
        <p:nvSpPr>
          <p:cNvPr id="7" name="Shape 5"/>
          <p:cNvSpPr/>
          <p:nvPr/>
        </p:nvSpPr>
        <p:spPr>
          <a:xfrm>
            <a:off x="1965960" y="2176272"/>
            <a:ext cx="274320" cy="201168"/>
          </a:xfrm>
          <a:prstGeom prst="downArrow">
            <a:avLst/>
          </a:prstGeom>
          <a:solidFill>
            <a:schemeClr val="accent6"/>
          </a:solidFill>
          <a:ln w="12700">
            <a:solidFill>
              <a:schemeClr val="accent6"/>
            </a:solidFill>
            <a:prstDash val="solid"/>
          </a:ln>
        </p:spPr>
      </p:sp>
      <p:sp>
        <p:nvSpPr>
          <p:cNvPr id="8" name="arch-erxes gateway"/>
          <p:cNvSpPr/>
          <p:nvPr/>
        </p:nvSpPr>
        <p:spPr>
          <a:xfrm>
            <a:off x="457200" y="2395728"/>
            <a:ext cx="3291840" cy="786384"/>
          </a:xfrm>
          <a:prstGeom prst="roundRect">
            <a:avLst>
              <a:gd name="adj" fmla="val 11628"/>
            </a:avLst>
          </a:prstGeom>
          <a:solidFill>
            <a:srgbClr val="0B1220"/>
          </a:solidFill>
          <a:ln w="12700">
            <a:solidFill>
              <a:srgbClr val="0B1220"/>
            </a:solidFill>
            <a:prstDash val="solid"/>
          </a:ln>
        </p:spPr>
      </p:sp>
      <p:sp>
        <p:nvSpPr>
          <p:cNvPr id="9" name="Text 7"/>
          <p:cNvSpPr txBox="1"/>
          <p:nvPr/>
        </p:nvSpPr>
        <p:spPr>
          <a:xfrm>
            <a:off x="685800" y="2487168"/>
            <a:ext cx="2926080" cy="320040"/>
          </a:xfrm>
          <a:prstGeom prst="rect">
            <a:avLst/>
          </a:prstGeom>
          <a:noFill/>
          <a:ln/>
        </p:spPr>
        <p:txBody>
          <a:bodyPr wrap="square" lIns="0" tIns="0" rIns="0" bIns="0" rtlCol="0" anchor="ctr"/>
          <a:lstStyle/>
          <a:p>
            <a:pPr indent="0" marL="0">
              <a:buNone/>
            </a:pPr>
            <a:r>
              <a:rPr lang="en-US" sz="1600" b="1" dirty="0">
                <a:solidFill>
                  <a:schemeClr val="bg1"/>
                </a:solidFill>
              </a:rPr>
              <a:t>erxes gateway</a:t>
            </a:r>
            <a:endParaRPr lang="en-US" sz="1600" dirty="0"/>
          </a:p>
        </p:txBody>
      </p:sp>
      <p:sp>
        <p:nvSpPr>
          <p:cNvPr id="10" name="Text 8"/>
          <p:cNvSpPr txBox="1"/>
          <p:nvPr/>
        </p:nvSpPr>
        <p:spPr>
          <a:xfrm>
            <a:off x="685800" y="2807208"/>
            <a:ext cx="2926080" cy="274320"/>
          </a:xfrm>
          <a:prstGeom prst="rect">
            <a:avLst/>
          </a:prstGeom>
          <a:noFill/>
          <a:ln/>
        </p:spPr>
        <p:txBody>
          <a:bodyPr wrap="square" lIns="0" tIns="0" rIns="0" bIns="0" rtlCol="0" anchor="ctr"/>
          <a:lstStyle/>
          <a:p>
            <a:pPr indent="0" marL="0">
              <a:buNone/>
            </a:pPr>
            <a:r>
              <a:rPr lang="en-US" sz="1200" dirty="0">
                <a:solidFill>
                  <a:schemeClr val="bg2"/>
                </a:solidFill>
              </a:rPr>
              <a:t>GraphQL Federation · :4000</a:t>
            </a:r>
            <a:endParaRPr lang="en-US" sz="1200" dirty="0"/>
          </a:p>
        </p:txBody>
      </p:sp>
      <p:sp>
        <p:nvSpPr>
          <p:cNvPr id="11" name="Shape 9"/>
          <p:cNvSpPr/>
          <p:nvPr/>
        </p:nvSpPr>
        <p:spPr>
          <a:xfrm>
            <a:off x="1965960" y="3200400"/>
            <a:ext cx="274320" cy="201168"/>
          </a:xfrm>
          <a:prstGeom prst="downArrow">
            <a:avLst/>
          </a:prstGeom>
          <a:solidFill>
            <a:schemeClr val="accent6"/>
          </a:solidFill>
          <a:ln w="12700">
            <a:solidFill>
              <a:schemeClr val="accent6"/>
            </a:solidFill>
            <a:prstDash val="solid"/>
          </a:ln>
        </p:spPr>
      </p:sp>
      <p:sp>
        <p:nvSpPr>
          <p:cNvPr id="12" name="arch-edulab_api"/>
          <p:cNvSpPr/>
          <p:nvPr/>
        </p:nvSpPr>
        <p:spPr>
          <a:xfrm>
            <a:off x="457200" y="3419856"/>
            <a:ext cx="3291840" cy="786384"/>
          </a:xfrm>
          <a:prstGeom prst="roundRect">
            <a:avLst>
              <a:gd name="adj" fmla="val 11628"/>
            </a:avLst>
          </a:prstGeom>
          <a:solidFill>
            <a:srgbClr val="EC4899"/>
          </a:solidFill>
          <a:ln w="12700">
            <a:solidFill>
              <a:srgbClr val="EC4899"/>
            </a:solidFill>
            <a:prstDash val="solid"/>
          </a:ln>
        </p:spPr>
      </p:sp>
      <p:sp>
        <p:nvSpPr>
          <p:cNvPr id="13" name="Text 11"/>
          <p:cNvSpPr txBox="1"/>
          <p:nvPr/>
        </p:nvSpPr>
        <p:spPr>
          <a:xfrm>
            <a:off x="685800" y="3511296"/>
            <a:ext cx="2926080" cy="320040"/>
          </a:xfrm>
          <a:prstGeom prst="rect">
            <a:avLst/>
          </a:prstGeom>
          <a:noFill/>
          <a:ln/>
        </p:spPr>
        <p:txBody>
          <a:bodyPr wrap="square" lIns="0" tIns="0" rIns="0" bIns="0" rtlCol="0" anchor="ctr"/>
          <a:lstStyle/>
          <a:p>
            <a:pPr indent="0" marL="0">
              <a:buNone/>
            </a:pPr>
            <a:r>
              <a:rPr lang="en-US" sz="1600" b="1" dirty="0">
                <a:solidFill>
                  <a:schemeClr val="bg1"/>
                </a:solidFill>
              </a:rPr>
              <a:t>edulab_api</a:t>
            </a:r>
            <a:endParaRPr lang="en-US" sz="1600" dirty="0"/>
          </a:p>
        </p:txBody>
      </p:sp>
      <p:sp>
        <p:nvSpPr>
          <p:cNvPr id="14" name="Text 12"/>
          <p:cNvSpPr txBox="1"/>
          <p:nvPr/>
        </p:nvSpPr>
        <p:spPr>
          <a:xfrm>
            <a:off x="685800" y="3831336"/>
            <a:ext cx="2926080" cy="274320"/>
          </a:xfrm>
          <a:prstGeom prst="rect">
            <a:avLst/>
          </a:prstGeom>
          <a:noFill/>
          <a:ln/>
        </p:spPr>
        <p:txBody>
          <a:bodyPr wrap="square" lIns="0" tIns="0" rIns="0" bIns="0" rtlCol="0" anchor="ctr"/>
          <a:lstStyle/>
          <a:p>
            <a:pPr indent="0" marL="0">
              <a:buNone/>
            </a:pPr>
            <a:r>
              <a:rPr lang="en-US" sz="1200" dirty="0">
                <a:solidFill>
                  <a:schemeClr val="bg2"/>
                </a:solidFill>
              </a:rPr>
              <a:t>Apollo subgraph · MongoDB</a:t>
            </a:r>
            <a:endParaRPr lang="en-US" sz="1200" dirty="0"/>
          </a:p>
        </p:txBody>
      </p:sp>
      <p:pic>
        <p:nvPicPr>
          <p:cNvPr id="15" name="Image 0" descr="preencoded.png">    </p:cNvPr>
          <p:cNvPicPr>
            <a:picLocks noChangeAspect="1"/>
          </p:cNvPicPr>
          <p:nvPr/>
        </p:nvPicPr>
        <p:blipFill>
          <a:blip r:embed="rId1"/>
          <a:stretch>
            <a:fillRect/>
          </a:stretch>
        </p:blipFill>
        <p:spPr>
          <a:xfrm>
            <a:off x="4206240" y="1362456"/>
            <a:ext cx="384048" cy="384048"/>
          </a:xfrm>
          <a:prstGeom prst="rect">
            <a:avLst/>
          </a:prstGeom>
        </p:spPr>
      </p:pic>
      <p:sp>
        <p:nvSpPr>
          <p:cNvPr id="16" name="Text 13"/>
          <p:cNvSpPr txBox="1"/>
          <p:nvPr/>
        </p:nvSpPr>
        <p:spPr>
          <a:xfrm>
            <a:off x="4754880" y="1325880"/>
            <a:ext cx="3931920" cy="274320"/>
          </a:xfrm>
          <a:prstGeom prst="rect">
            <a:avLst/>
          </a:prstGeom>
          <a:noFill/>
          <a:ln/>
        </p:spPr>
        <p:txBody>
          <a:bodyPr wrap="square" lIns="0" tIns="0" rIns="0" bIns="0" rtlCol="0" anchor="ctr"/>
          <a:lstStyle/>
          <a:p>
            <a:pPr indent="0" marL="0">
              <a:buNone/>
            </a:pPr>
            <a:r>
              <a:rPr lang="en-US" sz="1400" b="1" dirty="0">
                <a:solidFill>
                  <a:schemeClr val="tx1"/>
                </a:solidFill>
              </a:rPr>
              <a:t>Багш = erxes хэрэглэгч</a:t>
            </a:r>
            <a:endParaRPr lang="en-US" sz="1400" dirty="0"/>
          </a:p>
        </p:txBody>
      </p:sp>
      <p:sp>
        <p:nvSpPr>
          <p:cNvPr id="17" name="Text 14"/>
          <p:cNvSpPr txBox="1"/>
          <p:nvPr/>
        </p:nvSpPr>
        <p:spPr>
          <a:xfrm>
            <a:off x="4754880" y="1591056"/>
            <a:ext cx="3931920" cy="256032"/>
          </a:xfrm>
          <a:prstGeom prst="rect">
            <a:avLst/>
          </a:prstGeom>
          <a:noFill/>
          <a:ln/>
        </p:spPr>
        <p:txBody>
          <a:bodyPr wrap="square" lIns="0" tIns="0" rIns="0" bIns="0" rtlCol="0" anchor="ctr"/>
          <a:lstStyle/>
          <a:p>
            <a:pPr indent="0" marL="0">
              <a:buNone/>
            </a:pPr>
            <a:r>
              <a:rPr lang="en-US" sz="1200" dirty="0">
                <a:solidFill>
                  <a:schemeClr val="tx2"/>
                </a:solidFill>
              </a:rPr>
              <a:t>erxes-д нэвтэрч, эрхээр хамгаалагдана</a:t>
            </a:r>
            <a:endParaRPr lang="en-US" sz="1200" dirty="0"/>
          </a:p>
        </p:txBody>
      </p:sp>
      <p:pic>
        <p:nvPicPr>
          <p:cNvPr id="18" name="Image 1" descr="preencoded.png">    </p:cNvPr>
          <p:cNvPicPr>
            <a:picLocks noChangeAspect="1"/>
          </p:cNvPicPr>
          <p:nvPr/>
        </p:nvPicPr>
        <p:blipFill>
          <a:blip r:embed="rId2"/>
          <a:stretch>
            <a:fillRect/>
          </a:stretch>
        </p:blipFill>
        <p:spPr>
          <a:xfrm>
            <a:off x="4206240" y="1984248"/>
            <a:ext cx="384048" cy="384048"/>
          </a:xfrm>
          <a:prstGeom prst="rect">
            <a:avLst/>
          </a:prstGeom>
        </p:spPr>
      </p:pic>
      <p:sp>
        <p:nvSpPr>
          <p:cNvPr id="19" name="Text 15"/>
          <p:cNvSpPr txBox="1"/>
          <p:nvPr/>
        </p:nvSpPr>
        <p:spPr>
          <a:xfrm>
            <a:off x="4754880" y="1947672"/>
            <a:ext cx="3931920" cy="274320"/>
          </a:xfrm>
          <a:prstGeom prst="rect">
            <a:avLst/>
          </a:prstGeom>
          <a:noFill/>
          <a:ln/>
        </p:spPr>
        <p:txBody>
          <a:bodyPr wrap="square" lIns="0" tIns="0" rIns="0" bIns="0" rtlCol="0" anchor="ctr"/>
          <a:lstStyle/>
          <a:p>
            <a:pPr indent="0" marL="0">
              <a:buNone/>
            </a:pPr>
            <a:r>
              <a:rPr lang="en-US" sz="1400" b="1" dirty="0">
                <a:solidFill>
                  <a:schemeClr val="tx1"/>
                </a:solidFill>
              </a:rPr>
              <a:t>Сурагч ↔ Contacts</a:t>
            </a:r>
            <a:endParaRPr lang="en-US" sz="1400" dirty="0"/>
          </a:p>
        </p:txBody>
      </p:sp>
      <p:sp>
        <p:nvSpPr>
          <p:cNvPr id="20" name="Text 16"/>
          <p:cNvSpPr txBox="1"/>
          <p:nvPr/>
        </p:nvSpPr>
        <p:spPr>
          <a:xfrm>
            <a:off x="4754880" y="2212848"/>
            <a:ext cx="3931920" cy="256032"/>
          </a:xfrm>
          <a:prstGeom prst="rect">
            <a:avLst/>
          </a:prstGeom>
          <a:noFill/>
          <a:ln/>
        </p:spPr>
        <p:txBody>
          <a:bodyPr wrap="square" lIns="0" tIns="0" rIns="0" bIns="0" rtlCol="0" anchor="ctr"/>
          <a:lstStyle/>
          <a:p>
            <a:pPr indent="0" marL="0">
              <a:buNone/>
            </a:pPr>
            <a:r>
              <a:rPr lang="en-US" sz="1200" dirty="0">
                <a:solidFill>
                  <a:schemeClr val="tx2"/>
                </a:solidFill>
              </a:rPr>
              <a:t>Илгээлт бүр erxes Customer-тэй холбогдоно</a:t>
            </a:r>
            <a:endParaRPr lang="en-US" sz="1200" dirty="0"/>
          </a:p>
        </p:txBody>
      </p:sp>
      <p:pic>
        <p:nvPicPr>
          <p:cNvPr id="21" name="Image 2" descr="preencoded.png">    </p:cNvPr>
          <p:cNvPicPr>
            <a:picLocks noChangeAspect="1"/>
          </p:cNvPicPr>
          <p:nvPr/>
        </p:nvPicPr>
        <p:blipFill>
          <a:blip r:embed="rId3"/>
          <a:stretch>
            <a:fillRect/>
          </a:stretch>
        </p:blipFill>
        <p:spPr>
          <a:xfrm>
            <a:off x="4206240" y="2606040"/>
            <a:ext cx="384048" cy="384048"/>
          </a:xfrm>
          <a:prstGeom prst="rect">
            <a:avLst/>
          </a:prstGeom>
        </p:spPr>
      </p:pic>
      <p:sp>
        <p:nvSpPr>
          <p:cNvPr id="22" name="Text 17"/>
          <p:cNvSpPr txBox="1"/>
          <p:nvPr/>
        </p:nvSpPr>
        <p:spPr>
          <a:xfrm>
            <a:off x="4754880" y="2569464"/>
            <a:ext cx="3931920" cy="274320"/>
          </a:xfrm>
          <a:prstGeom prst="rect">
            <a:avLst/>
          </a:prstGeom>
          <a:noFill/>
          <a:ln/>
        </p:spPr>
        <p:txBody>
          <a:bodyPr wrap="square" lIns="0" tIns="0" rIns="0" bIns="0" rtlCol="0" anchor="ctr"/>
          <a:lstStyle/>
          <a:p>
            <a:pPr indent="0" marL="0">
              <a:buNone/>
            </a:pPr>
            <a:r>
              <a:rPr lang="en-US" sz="1400" b="1" dirty="0">
                <a:solidFill>
                  <a:schemeClr val="tx1"/>
                </a:solidFill>
              </a:rPr>
              <a:t>Permission систем</a:t>
            </a:r>
            <a:endParaRPr lang="en-US" sz="1400" dirty="0"/>
          </a:p>
        </p:txBody>
      </p:sp>
      <p:sp>
        <p:nvSpPr>
          <p:cNvPr id="23" name="Text 18"/>
          <p:cNvSpPr txBox="1"/>
          <p:nvPr/>
        </p:nvSpPr>
        <p:spPr>
          <a:xfrm>
            <a:off x="4754880" y="2834640"/>
            <a:ext cx="3931920" cy="256032"/>
          </a:xfrm>
          <a:prstGeom prst="rect">
            <a:avLst/>
          </a:prstGeom>
          <a:noFill/>
          <a:ln/>
        </p:spPr>
        <p:txBody>
          <a:bodyPr wrap="square" lIns="0" tIns="0" rIns="0" bIns="0" rtlCol="0" anchor="ctr"/>
          <a:lstStyle/>
          <a:p>
            <a:pPr indent="0" marL="0">
              <a:buNone/>
            </a:pPr>
            <a:r>
              <a:rPr lang="en-US" sz="1200" dirty="0">
                <a:solidFill>
                  <a:schemeClr val="tx2"/>
                </a:solidFill>
              </a:rPr>
              <a:t>Анги, даалгавар, үнэлгээ тус бүрийн эрх</a:t>
            </a:r>
            <a:endParaRPr lang="en-US" sz="1200" dirty="0"/>
          </a:p>
        </p:txBody>
      </p:sp>
      <p:pic>
        <p:nvPicPr>
          <p:cNvPr id="24" name="Image 3" descr="preencoded.png">    </p:cNvPr>
          <p:cNvPicPr>
            <a:picLocks noChangeAspect="1"/>
          </p:cNvPicPr>
          <p:nvPr/>
        </p:nvPicPr>
        <p:blipFill>
          <a:blip r:embed="rId4"/>
          <a:stretch>
            <a:fillRect/>
          </a:stretch>
        </p:blipFill>
        <p:spPr>
          <a:xfrm>
            <a:off x="4206240" y="3227832"/>
            <a:ext cx="384048" cy="384048"/>
          </a:xfrm>
          <a:prstGeom prst="rect">
            <a:avLst/>
          </a:prstGeom>
        </p:spPr>
      </p:pic>
      <p:sp>
        <p:nvSpPr>
          <p:cNvPr id="25" name="Text 19"/>
          <p:cNvSpPr txBox="1"/>
          <p:nvPr/>
        </p:nvSpPr>
        <p:spPr>
          <a:xfrm>
            <a:off x="4754880" y="3191256"/>
            <a:ext cx="3931920" cy="274320"/>
          </a:xfrm>
          <a:prstGeom prst="rect">
            <a:avLst/>
          </a:prstGeom>
          <a:noFill/>
          <a:ln/>
        </p:spPr>
        <p:txBody>
          <a:bodyPr wrap="square" lIns="0" tIns="0" rIns="0" bIns="0" rtlCol="0" anchor="ctr"/>
          <a:lstStyle/>
          <a:p>
            <a:pPr indent="0" marL="0">
              <a:buNone/>
            </a:pPr>
            <a:r>
              <a:rPr lang="en-US" sz="1400" b="1" dirty="0">
                <a:solidFill>
                  <a:schemeClr val="tx1"/>
                </a:solidFill>
              </a:rPr>
              <a:t>Multi-tenant</a:t>
            </a:r>
            <a:endParaRPr lang="en-US" sz="1400" dirty="0"/>
          </a:p>
        </p:txBody>
      </p:sp>
      <p:sp>
        <p:nvSpPr>
          <p:cNvPr id="26" name="Text 20"/>
          <p:cNvSpPr txBox="1"/>
          <p:nvPr/>
        </p:nvSpPr>
        <p:spPr>
          <a:xfrm>
            <a:off x="4754880" y="3456432"/>
            <a:ext cx="3931920" cy="256032"/>
          </a:xfrm>
          <a:prstGeom prst="rect">
            <a:avLst/>
          </a:prstGeom>
          <a:noFill/>
          <a:ln/>
        </p:spPr>
        <p:txBody>
          <a:bodyPr wrap="square" lIns="0" tIns="0" rIns="0" bIns="0" rtlCol="0" anchor="ctr"/>
          <a:lstStyle/>
          <a:p>
            <a:pPr indent="0" marL="0">
              <a:buNone/>
            </a:pPr>
            <a:r>
              <a:rPr lang="en-US" sz="1200" dirty="0">
                <a:solidFill>
                  <a:schemeClr val="tx2"/>
                </a:solidFill>
              </a:rPr>
              <a:t>Байгууллага бүрийн өгөгдөл тусдаа</a:t>
            </a:r>
            <a:endParaRPr lang="en-US" sz="1200" dirty="0"/>
          </a:p>
        </p:txBody>
      </p:sp>
      <p:pic>
        <p:nvPicPr>
          <p:cNvPr id="27" name="Image 4" descr="preencoded.png">    </p:cNvPr>
          <p:cNvPicPr>
            <a:picLocks noChangeAspect="1"/>
          </p:cNvPicPr>
          <p:nvPr/>
        </p:nvPicPr>
        <p:blipFill>
          <a:blip r:embed="rId5"/>
          <a:stretch>
            <a:fillRect/>
          </a:stretch>
        </p:blipFill>
        <p:spPr>
          <a:xfrm>
            <a:off x="4206240" y="3849624"/>
            <a:ext cx="384048" cy="384048"/>
          </a:xfrm>
          <a:prstGeom prst="rect">
            <a:avLst/>
          </a:prstGeom>
        </p:spPr>
      </p:pic>
      <p:sp>
        <p:nvSpPr>
          <p:cNvPr id="28" name="Text 21"/>
          <p:cNvSpPr txBox="1"/>
          <p:nvPr/>
        </p:nvSpPr>
        <p:spPr>
          <a:xfrm>
            <a:off x="4754880" y="3813048"/>
            <a:ext cx="3931920" cy="274320"/>
          </a:xfrm>
          <a:prstGeom prst="rect">
            <a:avLst/>
          </a:prstGeom>
          <a:noFill/>
          <a:ln/>
        </p:spPr>
        <p:txBody>
          <a:bodyPr wrap="square" lIns="0" tIns="0" rIns="0" bIns="0" rtlCol="0" anchor="ctr"/>
          <a:lstStyle/>
          <a:p>
            <a:pPr indent="0" marL="0">
              <a:buNone/>
            </a:pPr>
            <a:r>
              <a:rPr lang="en-US" sz="1400" b="1" dirty="0">
                <a:solidFill>
                  <a:schemeClr val="tx1"/>
                </a:solidFill>
              </a:rPr>
              <a:t>erxes-ui</a:t>
            </a:r>
            <a:endParaRPr lang="en-US" sz="1400" dirty="0"/>
          </a:p>
        </p:txBody>
      </p:sp>
      <p:sp>
        <p:nvSpPr>
          <p:cNvPr id="29" name="Text 22"/>
          <p:cNvSpPr txBox="1"/>
          <p:nvPr/>
        </p:nvSpPr>
        <p:spPr>
          <a:xfrm>
            <a:off x="4754880" y="4078224"/>
            <a:ext cx="3931920" cy="256032"/>
          </a:xfrm>
          <a:prstGeom prst="rect">
            <a:avLst/>
          </a:prstGeom>
          <a:noFill/>
          <a:ln/>
        </p:spPr>
        <p:txBody>
          <a:bodyPr wrap="square" lIns="0" tIns="0" rIns="0" bIns="0" rtlCol="0" anchor="ctr"/>
          <a:lstStyle/>
          <a:p>
            <a:pPr indent="0" marL="0">
              <a:buNone/>
            </a:pPr>
            <a:r>
              <a:rPr lang="en-US" sz="1200" dirty="0">
                <a:solidFill>
                  <a:schemeClr val="tx2"/>
                </a:solidFill>
              </a:rPr>
              <a:t>erxes-ийн бусад хэсэгтэй адил харагдана</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05 · ТЕХНИКИЙН ШИЙДЭЛ</a:t>
            </a:r>
            <a:endParaRPr lang="en-US" sz="12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AI бодит өгөгдөлд тулгуурлана</a:t>
            </a:r>
            <a:endParaRPr lang="en-US" sz="3000" dirty="0"/>
          </a:p>
        </p:txBody>
      </p:sp>
      <p:sp>
        <p:nvSpPr>
          <p:cNvPr id="4" name="Text 2"/>
          <p:cNvSpPr txBox="1"/>
          <p:nvPr/>
        </p:nvSpPr>
        <p:spPr>
          <a:xfrm>
            <a:off x="457200" y="1417320"/>
            <a:ext cx="2606040" cy="685800"/>
          </a:xfrm>
          <a:prstGeom prst="rect">
            <a:avLst/>
          </a:prstGeom>
          <a:noFill/>
          <a:ln/>
        </p:spPr>
        <p:txBody>
          <a:bodyPr wrap="square" lIns="0" tIns="0" rIns="0" bIns="0" rtlCol="0" anchor="ctr">
            <a:normAutofit/>
          </a:bodyPr>
          <a:lstStyle/>
          <a:p>
            <a:pPr indent="0" marL="0">
              <a:buNone/>
            </a:pPr>
            <a:r>
              <a:rPr lang="en-US" sz="3000" b="1" dirty="0">
                <a:solidFill>
                  <a:schemeClr val="accent1"/>
                </a:solidFill>
              </a:rPr>
              <a:t>30с → 5–10с</a:t>
            </a:r>
            <a:endParaRPr lang="en-US" sz="3000" dirty="0"/>
          </a:p>
        </p:txBody>
      </p:sp>
      <p:sp>
        <p:nvSpPr>
          <p:cNvPr id="5" name="Text 3"/>
          <p:cNvSpPr txBox="1"/>
          <p:nvPr/>
        </p:nvSpPr>
        <p:spPr>
          <a:xfrm>
            <a:off x="457200" y="2148840"/>
            <a:ext cx="2606040" cy="320040"/>
          </a:xfrm>
          <a:prstGeom prst="rect">
            <a:avLst/>
          </a:prstGeom>
          <a:noFill/>
          <a:ln/>
        </p:spPr>
        <p:txBody>
          <a:bodyPr wrap="square" lIns="0" tIns="0" rIns="0" bIns="0" rtlCol="0" anchor="ctr"/>
          <a:lstStyle/>
          <a:p>
            <a:pPr indent="0" marL="0">
              <a:buNone/>
            </a:pPr>
            <a:r>
              <a:rPr lang="en-US" sz="1500" b="1" dirty="0">
                <a:solidFill>
                  <a:schemeClr val="tx1"/>
                </a:solidFill>
              </a:rPr>
              <a:t>AI үнэлгээний хурд</a:t>
            </a:r>
            <a:endParaRPr lang="en-US" sz="1500" dirty="0"/>
          </a:p>
        </p:txBody>
      </p:sp>
      <p:sp>
        <p:nvSpPr>
          <p:cNvPr id="6" name="Text 4"/>
          <p:cNvSpPr txBox="1"/>
          <p:nvPr/>
        </p:nvSpPr>
        <p:spPr>
          <a:xfrm>
            <a:off x="457200" y="2487168"/>
            <a:ext cx="2514600" cy="731520"/>
          </a:xfrm>
          <a:prstGeom prst="rect">
            <a:avLst/>
          </a:prstGeom>
          <a:noFill/>
          <a:ln/>
        </p:spPr>
        <p:txBody>
          <a:bodyPr wrap="square" lIns="0" tIns="0" rIns="0" bIns="0" rtlCol="0" anchor="t"/>
          <a:lstStyle/>
          <a:p>
            <a:pPr indent="0" marL="0">
              <a:buNone/>
            </a:pPr>
            <a:r>
              <a:rPr lang="en-US" sz="1300" dirty="0">
                <a:solidFill>
                  <a:schemeClr val="tx2"/>
                </a:solidFill>
              </a:rPr>
              <a:t>Gemma 4-ийн бодох горимыг minimal болгож, оноог өөрчлөөгүй</a:t>
            </a:r>
            <a:endParaRPr lang="en-US" sz="1300" dirty="0"/>
          </a:p>
        </p:txBody>
      </p:sp>
      <p:sp>
        <p:nvSpPr>
          <p:cNvPr id="7" name="Text 5"/>
          <p:cNvSpPr txBox="1"/>
          <p:nvPr/>
        </p:nvSpPr>
        <p:spPr>
          <a:xfrm>
            <a:off x="3246120" y="1417320"/>
            <a:ext cx="2606040" cy="685800"/>
          </a:xfrm>
          <a:prstGeom prst="rect">
            <a:avLst/>
          </a:prstGeom>
          <a:noFill/>
          <a:ln/>
        </p:spPr>
        <p:txBody>
          <a:bodyPr wrap="square" lIns="0" tIns="0" rIns="0" bIns="0" rtlCol="0" anchor="ctr">
            <a:normAutofit/>
          </a:bodyPr>
          <a:lstStyle/>
          <a:p>
            <a:pPr indent="0" marL="0">
              <a:buNone/>
            </a:pPr>
            <a:r>
              <a:rPr lang="en-US" sz="3000" b="1" dirty="0">
                <a:solidFill>
                  <a:schemeClr val="accent1"/>
                </a:solidFill>
              </a:rPr>
              <a:t>10 · 5 · 0</a:t>
            </a:r>
            <a:endParaRPr lang="en-US" sz="3000" dirty="0"/>
          </a:p>
        </p:txBody>
      </p:sp>
      <p:sp>
        <p:nvSpPr>
          <p:cNvPr id="8" name="Text 6"/>
          <p:cNvSpPr txBox="1"/>
          <p:nvPr/>
        </p:nvSpPr>
        <p:spPr>
          <a:xfrm>
            <a:off x="3246120" y="2148840"/>
            <a:ext cx="2606040" cy="320040"/>
          </a:xfrm>
          <a:prstGeom prst="rect">
            <a:avLst/>
          </a:prstGeom>
          <a:noFill/>
          <a:ln/>
        </p:spPr>
        <p:txBody>
          <a:bodyPr wrap="square" lIns="0" tIns="0" rIns="0" bIns="0" rtlCol="0" anchor="ctr"/>
          <a:lstStyle/>
          <a:p>
            <a:pPr indent="0" marL="0">
              <a:buNone/>
            </a:pPr>
            <a:r>
              <a:rPr lang="en-US" sz="1500" b="1" dirty="0">
                <a:solidFill>
                  <a:schemeClr val="tx1"/>
                </a:solidFill>
              </a:rPr>
              <a:t>Титрлэлтийн бодит туршилт</a:t>
            </a:r>
            <a:endParaRPr lang="en-US" sz="1500" dirty="0"/>
          </a:p>
        </p:txBody>
      </p:sp>
      <p:sp>
        <p:nvSpPr>
          <p:cNvPr id="9" name="Text 7"/>
          <p:cNvSpPr txBox="1"/>
          <p:nvPr/>
        </p:nvSpPr>
        <p:spPr>
          <a:xfrm>
            <a:off x="3246120" y="2487168"/>
            <a:ext cx="2514600" cy="731520"/>
          </a:xfrm>
          <a:prstGeom prst="rect">
            <a:avLst/>
          </a:prstGeom>
          <a:noFill/>
          <a:ln/>
        </p:spPr>
        <p:txBody>
          <a:bodyPr wrap="square" lIns="0" tIns="0" rIns="0" bIns="0" rtlCol="0" anchor="t"/>
          <a:lstStyle/>
          <a:p>
            <a:pPr indent="0" marL="0">
              <a:buNone/>
            </a:pPr>
            <a:r>
              <a:rPr lang="en-US" sz="1300" dirty="0">
                <a:solidFill>
                  <a:schemeClr val="tx2"/>
                </a:solidFill>
              </a:rPr>
              <a:t>Зөв ажил · хэтрүүлснээ дунджид оруулсан · нэгжийн алдаа</a:t>
            </a:r>
            <a:endParaRPr lang="en-US" sz="1300" dirty="0"/>
          </a:p>
        </p:txBody>
      </p:sp>
      <p:sp>
        <p:nvSpPr>
          <p:cNvPr id="10" name="Text 8"/>
          <p:cNvSpPr txBox="1"/>
          <p:nvPr/>
        </p:nvSpPr>
        <p:spPr>
          <a:xfrm>
            <a:off x="6035040" y="1417320"/>
            <a:ext cx="2606040" cy="685800"/>
          </a:xfrm>
          <a:prstGeom prst="rect">
            <a:avLst/>
          </a:prstGeom>
          <a:noFill/>
          <a:ln/>
        </p:spPr>
        <p:txBody>
          <a:bodyPr wrap="square" lIns="0" tIns="0" rIns="0" bIns="0" rtlCol="0" anchor="ctr">
            <a:normAutofit/>
          </a:bodyPr>
          <a:lstStyle/>
          <a:p>
            <a:pPr indent="0" marL="0">
              <a:buNone/>
            </a:pPr>
            <a:r>
              <a:rPr lang="en-US" sz="3000" b="1" dirty="0">
                <a:solidFill>
                  <a:schemeClr val="accent1"/>
                </a:solidFill>
              </a:rPr>
              <a:t>3 lab · 1 registry</a:t>
            </a:r>
            <a:endParaRPr lang="en-US" sz="3000" dirty="0"/>
          </a:p>
        </p:txBody>
      </p:sp>
      <p:sp>
        <p:nvSpPr>
          <p:cNvPr id="11" name="Text 9"/>
          <p:cNvSpPr txBox="1"/>
          <p:nvPr/>
        </p:nvSpPr>
        <p:spPr>
          <a:xfrm>
            <a:off x="6035040" y="2148840"/>
            <a:ext cx="2606040" cy="320040"/>
          </a:xfrm>
          <a:prstGeom prst="rect">
            <a:avLst/>
          </a:prstGeom>
          <a:noFill/>
          <a:ln/>
        </p:spPr>
        <p:txBody>
          <a:bodyPr wrap="square" lIns="0" tIns="0" rIns="0" bIns="0" rtlCol="0" anchor="ctr"/>
          <a:lstStyle/>
          <a:p>
            <a:pPr indent="0" marL="0">
              <a:buNone/>
            </a:pPr>
            <a:r>
              <a:rPr lang="en-US" sz="1500" b="1" dirty="0">
                <a:solidFill>
                  <a:schemeClr val="tx1"/>
                </a:solidFill>
              </a:rPr>
              <a:t>Өргөтгөх боломж</a:t>
            </a:r>
            <a:endParaRPr lang="en-US" sz="1500" dirty="0"/>
          </a:p>
        </p:txBody>
      </p:sp>
      <p:sp>
        <p:nvSpPr>
          <p:cNvPr id="12" name="Text 10"/>
          <p:cNvSpPr txBox="1"/>
          <p:nvPr/>
        </p:nvSpPr>
        <p:spPr>
          <a:xfrm>
            <a:off x="6035040" y="2487168"/>
            <a:ext cx="2514600" cy="731520"/>
          </a:xfrm>
          <a:prstGeom prst="rect">
            <a:avLst/>
          </a:prstGeom>
          <a:noFill/>
          <a:ln/>
        </p:spPr>
        <p:txBody>
          <a:bodyPr wrap="square" lIns="0" tIns="0" rIns="0" bIns="0" rtlCol="0" anchor="t"/>
          <a:lstStyle/>
          <a:p>
            <a:pPr indent="0" marL="0">
              <a:buNone/>
            </a:pPr>
            <a:r>
              <a:rPr lang="en-US" sz="1300" dirty="0">
                <a:solidFill>
                  <a:schemeClr val="tx2"/>
                </a:solidFill>
              </a:rPr>
              <a:t>Шинэ lab нэмэхэд schema өөрчлөх шаардлагагүй</a:t>
            </a:r>
            <a:endParaRPr lang="en-US" sz="1300" dirty="0"/>
          </a:p>
        </p:txBody>
      </p:sp>
      <p:sp>
        <p:nvSpPr>
          <p:cNvPr id="13" name="tech-decisions"/>
          <p:cNvSpPr/>
          <p:nvPr/>
        </p:nvSpPr>
        <p:spPr>
          <a:xfrm>
            <a:off x="457200" y="3429000"/>
            <a:ext cx="8229600" cy="1097280"/>
          </a:xfrm>
          <a:prstGeom prst="roundRect">
            <a:avLst>
              <a:gd name="adj" fmla="val 8333"/>
            </a:avLst>
          </a:prstGeom>
          <a:solidFill>
            <a:schemeClr val="bg2"/>
          </a:solidFill>
          <a:ln w="12700">
            <a:solidFill>
              <a:schemeClr val="bg2"/>
            </a:solidFill>
            <a:prstDash val="solid"/>
          </a:ln>
        </p:spPr>
      </p:sp>
      <p:sp>
        <p:nvSpPr>
          <p:cNvPr id="14" name="Text 12"/>
          <p:cNvSpPr txBox="1"/>
          <p:nvPr/>
        </p:nvSpPr>
        <p:spPr>
          <a:xfrm>
            <a:off x="685800" y="3520440"/>
            <a:ext cx="7772400" cy="914400"/>
          </a:xfrm>
          <a:prstGeom prst="rect">
            <a:avLst/>
          </a:prstGeom>
          <a:noFill/>
          <a:ln/>
        </p:spPr>
        <p:txBody>
          <a:bodyPr wrap="square" lIns="0" tIns="0" rIns="0" bIns="0" rtlCol="0" anchor="ctr"/>
          <a:lstStyle/>
          <a:p>
            <a:pPr indent="0" marL="0">
              <a:spcAft>
                <a:spcPts val="300"/>
              </a:spcAft>
              <a:buNone/>
            </a:pPr>
            <a:r>
              <a:rPr lang="en-US" sz="1200" b="1" dirty="0">
                <a:solidFill>
                  <a:schemeClr val="tx1"/>
                </a:solidFill>
              </a:rPr>
              <a:t>Чухал шийдвэрүүд: </a:t>
            </a:r>
            <a:endParaRPr lang="en-US" sz="1200" dirty="0"/>
          </a:p>
          <a:p>
            <a:pPr indent="0" marL="0">
              <a:spcAft>
                <a:spcPts val="300"/>
              </a:spcAft>
              <a:buNone/>
            </a:pPr>
            <a:r>
              <a:rPr lang="en-US" sz="1200" dirty="0">
                <a:solidFill>
                  <a:schemeClr val="tx2"/>
                </a:solidFill>
              </a:rPr>
              <a:t>Хэмжилтийн баримтыг сервер тооцоолно, AI зөвхөн дүгнэлтийг шүүнэ · шалгуурын нэрийг rubric-аас уншина · Gemma загвар алдаа өгвөл дараагийнх руу шилжинэ</a:t>
            </a:r>
            <a:endParaRPr lang="en-US" sz="1200" dirty="0"/>
          </a:p>
          <a:p>
            <a:pPr indent="0" marL="0">
              <a:spcAft>
                <a:spcPts val="300"/>
              </a:spcAft>
              <a:buNone/>
            </a:pPr>
            <a:r>
              <a:rPr lang="en-US" sz="1200" b="1" dirty="0">
                <a:solidFill>
                  <a:schemeClr val="accent1"/>
                </a:solidFill>
              </a:rPr>
              <a:t>Gemma 4 · Node.js/TypeScript · Apollo Federation · MongoDB · React · erxes-ui</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200" b="1" spc="200" kern="0" dirty="0">
                <a:solidFill>
                  <a:schemeClr val="accent2"/>
                </a:solidFill>
              </a:rPr>
              <a:t>06 · ДАРААГИЙН АЛХАМ</a:t>
            </a:r>
            <a:endParaRPr lang="en-US" sz="12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000" b="1" dirty="0">
                <a:solidFill>
                  <a:schemeClr val="bg1"/>
                </a:solidFill>
              </a:rPr>
              <a:t>Сургуулийн платформ руу</a:t>
            </a:r>
            <a:endParaRPr lang="en-US" sz="3000" dirty="0"/>
          </a:p>
        </p:txBody>
      </p:sp>
      <p:sp>
        <p:nvSpPr>
          <p:cNvPr id="4" name="Shape 2"/>
          <p:cNvSpPr/>
          <p:nvPr/>
        </p:nvSpPr>
        <p:spPr>
          <a:xfrm>
            <a:off x="457200" y="1325880"/>
            <a:ext cx="402336" cy="402336"/>
          </a:xfrm>
          <a:prstGeom prst="ellipse">
            <a:avLst/>
          </a:prstGeom>
          <a:solidFill>
            <a:srgbClr val="7C6CF2"/>
          </a:solidFill>
          <a:ln w="12700">
            <a:solidFill>
              <a:srgbClr val="7C6CF2"/>
            </a:solidFill>
            <a:prstDash val="solid"/>
          </a:ln>
        </p:spPr>
      </p:sp>
      <p:pic>
        <p:nvPicPr>
          <p:cNvPr id="5" name="Image 0" descr="preencoded.png">    </p:cNvPr>
          <p:cNvPicPr>
            <a:picLocks noChangeAspect="1"/>
          </p:cNvPicPr>
          <p:nvPr/>
        </p:nvPicPr>
        <p:blipFill>
          <a:blip r:embed="rId1"/>
          <a:stretch>
            <a:fillRect/>
          </a:stretch>
        </p:blipFill>
        <p:spPr>
          <a:xfrm>
            <a:off x="545714" y="1414394"/>
            <a:ext cx="225308" cy="225308"/>
          </a:xfrm>
          <a:prstGeom prst="rect">
            <a:avLst/>
          </a:prstGeom>
        </p:spPr>
      </p:pic>
      <p:sp>
        <p:nvSpPr>
          <p:cNvPr id="6" name="Text 3"/>
          <p:cNvSpPr txBox="1"/>
          <p:nvPr/>
        </p:nvSpPr>
        <p:spPr>
          <a:xfrm>
            <a:off x="1005840" y="1325880"/>
            <a:ext cx="3657600" cy="402336"/>
          </a:xfrm>
          <a:prstGeom prst="rect">
            <a:avLst/>
          </a:prstGeom>
          <a:noFill/>
          <a:ln/>
        </p:spPr>
        <p:txBody>
          <a:bodyPr wrap="square" lIns="0" tIns="0" rIns="0" bIns="0" rtlCol="0" anchor="ctr"/>
          <a:lstStyle/>
          <a:p>
            <a:pPr indent="0" marL="0">
              <a:buNone/>
            </a:pPr>
            <a:r>
              <a:rPr lang="en-US" sz="1400" dirty="0">
                <a:solidFill>
                  <a:schemeClr val="bg1"/>
                </a:solidFill>
              </a:rPr>
              <a:t>Зургаар оруулсан даалгаврыг AI шинжлэх</a:t>
            </a:r>
            <a:endParaRPr lang="en-US" sz="1400" dirty="0"/>
          </a:p>
        </p:txBody>
      </p:sp>
      <p:sp>
        <p:nvSpPr>
          <p:cNvPr id="7" name="Shape 4"/>
          <p:cNvSpPr/>
          <p:nvPr/>
        </p:nvSpPr>
        <p:spPr>
          <a:xfrm>
            <a:off x="457200" y="1874520"/>
            <a:ext cx="402336" cy="402336"/>
          </a:xfrm>
          <a:prstGeom prst="ellipse">
            <a:avLst/>
          </a:prstGeom>
          <a:solidFill>
            <a:srgbClr val="7C6CF2"/>
          </a:solidFill>
          <a:ln w="12700">
            <a:solidFill>
              <a:srgbClr val="7C6CF2"/>
            </a:solidFill>
            <a:prstDash val="solid"/>
          </a:ln>
        </p:spPr>
      </p:sp>
      <p:pic>
        <p:nvPicPr>
          <p:cNvPr id="8" name="Image 1" descr="preencoded.png">    </p:cNvPr>
          <p:cNvPicPr>
            <a:picLocks noChangeAspect="1"/>
          </p:cNvPicPr>
          <p:nvPr/>
        </p:nvPicPr>
        <p:blipFill>
          <a:blip r:embed="rId2"/>
          <a:stretch>
            <a:fillRect/>
          </a:stretch>
        </p:blipFill>
        <p:spPr>
          <a:xfrm>
            <a:off x="545714" y="1963034"/>
            <a:ext cx="225308" cy="225308"/>
          </a:xfrm>
          <a:prstGeom prst="rect">
            <a:avLst/>
          </a:prstGeom>
        </p:spPr>
      </p:pic>
      <p:sp>
        <p:nvSpPr>
          <p:cNvPr id="9" name="Text 5"/>
          <p:cNvSpPr txBox="1"/>
          <p:nvPr/>
        </p:nvSpPr>
        <p:spPr>
          <a:xfrm>
            <a:off x="1005840" y="1874520"/>
            <a:ext cx="3657600" cy="402336"/>
          </a:xfrm>
          <a:prstGeom prst="rect">
            <a:avLst/>
          </a:prstGeom>
          <a:noFill/>
          <a:ln/>
        </p:spPr>
        <p:txBody>
          <a:bodyPr wrap="square" lIns="0" tIns="0" rIns="0" bIns="0" rtlCol="0" anchor="ctr"/>
          <a:lstStyle/>
          <a:p>
            <a:pPr indent="0" marL="0">
              <a:buNone/>
            </a:pPr>
            <a:r>
              <a:rPr lang="en-US" sz="1400" dirty="0">
                <a:solidFill>
                  <a:schemeClr val="bg1"/>
                </a:solidFill>
              </a:rPr>
              <a:t>Тест, сорилын автомат шалгалт</a:t>
            </a:r>
            <a:endParaRPr lang="en-US" sz="1400" dirty="0"/>
          </a:p>
        </p:txBody>
      </p:sp>
      <p:sp>
        <p:nvSpPr>
          <p:cNvPr id="10" name="Shape 6"/>
          <p:cNvSpPr/>
          <p:nvPr/>
        </p:nvSpPr>
        <p:spPr>
          <a:xfrm>
            <a:off x="457200" y="2423160"/>
            <a:ext cx="402336" cy="402336"/>
          </a:xfrm>
          <a:prstGeom prst="ellipse">
            <a:avLst/>
          </a:prstGeom>
          <a:solidFill>
            <a:srgbClr val="7C6CF2"/>
          </a:solidFill>
          <a:ln w="12700">
            <a:solidFill>
              <a:srgbClr val="7C6CF2"/>
            </a:solidFill>
            <a:prstDash val="solid"/>
          </a:ln>
        </p:spPr>
      </p:sp>
      <p:pic>
        <p:nvPicPr>
          <p:cNvPr id="11" name="Image 2" descr="preencoded.png">    </p:cNvPr>
          <p:cNvPicPr>
            <a:picLocks noChangeAspect="1"/>
          </p:cNvPicPr>
          <p:nvPr/>
        </p:nvPicPr>
        <p:blipFill>
          <a:blip r:embed="rId3"/>
          <a:stretch>
            <a:fillRect/>
          </a:stretch>
        </p:blipFill>
        <p:spPr>
          <a:xfrm>
            <a:off x="545714" y="2511674"/>
            <a:ext cx="225308" cy="225308"/>
          </a:xfrm>
          <a:prstGeom prst="rect">
            <a:avLst/>
          </a:prstGeom>
        </p:spPr>
      </p:pic>
      <p:sp>
        <p:nvSpPr>
          <p:cNvPr id="12" name="Text 7"/>
          <p:cNvSpPr txBox="1"/>
          <p:nvPr/>
        </p:nvSpPr>
        <p:spPr>
          <a:xfrm>
            <a:off x="1005840" y="2423160"/>
            <a:ext cx="3657600" cy="402336"/>
          </a:xfrm>
          <a:prstGeom prst="rect">
            <a:avLst/>
          </a:prstGeom>
          <a:noFill/>
          <a:ln/>
        </p:spPr>
        <p:txBody>
          <a:bodyPr wrap="square" lIns="0" tIns="0" rIns="0" bIns="0" rtlCol="0" anchor="ctr"/>
          <a:lstStyle/>
          <a:p>
            <a:pPr indent="0" marL="0">
              <a:buNone/>
            </a:pPr>
            <a:r>
              <a:rPr lang="en-US" sz="1400" dirty="0">
                <a:solidFill>
                  <a:schemeClr val="bg1"/>
                </a:solidFill>
              </a:rPr>
              <a:t>Сурагчид тайлбарладаг AI туслах багш</a:t>
            </a:r>
            <a:endParaRPr lang="en-US" sz="1400" dirty="0"/>
          </a:p>
        </p:txBody>
      </p:sp>
      <p:sp>
        <p:nvSpPr>
          <p:cNvPr id="13" name="Shape 8"/>
          <p:cNvSpPr/>
          <p:nvPr/>
        </p:nvSpPr>
        <p:spPr>
          <a:xfrm>
            <a:off x="457200" y="2971800"/>
            <a:ext cx="402336" cy="402336"/>
          </a:xfrm>
          <a:prstGeom prst="ellipse">
            <a:avLst/>
          </a:prstGeom>
          <a:solidFill>
            <a:srgbClr val="7C6CF2"/>
          </a:solidFill>
          <a:ln w="12700">
            <a:solidFill>
              <a:srgbClr val="7C6CF2"/>
            </a:solidFill>
            <a:prstDash val="solid"/>
          </a:ln>
        </p:spPr>
      </p:sp>
      <p:pic>
        <p:nvPicPr>
          <p:cNvPr id="14" name="Image 3" descr="preencoded.png">    </p:cNvPr>
          <p:cNvPicPr>
            <a:picLocks noChangeAspect="1"/>
          </p:cNvPicPr>
          <p:nvPr/>
        </p:nvPicPr>
        <p:blipFill>
          <a:blip r:embed="rId4"/>
          <a:stretch>
            <a:fillRect/>
          </a:stretch>
        </p:blipFill>
        <p:spPr>
          <a:xfrm>
            <a:off x="545714" y="3060314"/>
            <a:ext cx="225308" cy="225308"/>
          </a:xfrm>
          <a:prstGeom prst="rect">
            <a:avLst/>
          </a:prstGeom>
        </p:spPr>
      </p:pic>
      <p:sp>
        <p:nvSpPr>
          <p:cNvPr id="15" name="Text 9"/>
          <p:cNvSpPr txBox="1"/>
          <p:nvPr/>
        </p:nvSpPr>
        <p:spPr>
          <a:xfrm>
            <a:off x="1005840" y="2971800"/>
            <a:ext cx="3657600" cy="402336"/>
          </a:xfrm>
          <a:prstGeom prst="rect">
            <a:avLst/>
          </a:prstGeom>
          <a:noFill/>
          <a:ln/>
        </p:spPr>
        <p:txBody>
          <a:bodyPr wrap="square" lIns="0" tIns="0" rIns="0" bIns="0" rtlCol="0" anchor="ctr"/>
          <a:lstStyle/>
          <a:p>
            <a:pPr indent="0" marL="0">
              <a:buNone/>
            </a:pPr>
            <a:r>
              <a:rPr lang="en-US" sz="1400" dirty="0">
                <a:solidFill>
                  <a:schemeClr val="bg1"/>
                </a:solidFill>
              </a:rPr>
              <a:t>Сурагч бүрийн ахиц дэвшлийн тайлан</a:t>
            </a:r>
            <a:endParaRPr lang="en-US" sz="1400" dirty="0"/>
          </a:p>
        </p:txBody>
      </p:sp>
      <p:sp>
        <p:nvSpPr>
          <p:cNvPr id="16" name="Shape 10"/>
          <p:cNvSpPr/>
          <p:nvPr/>
        </p:nvSpPr>
        <p:spPr>
          <a:xfrm>
            <a:off x="457200" y="3520440"/>
            <a:ext cx="402336" cy="402336"/>
          </a:xfrm>
          <a:prstGeom prst="ellipse">
            <a:avLst/>
          </a:prstGeom>
          <a:solidFill>
            <a:srgbClr val="7C6CF2"/>
          </a:solidFill>
          <a:ln w="12700">
            <a:solidFill>
              <a:srgbClr val="7C6CF2"/>
            </a:solidFill>
            <a:prstDash val="solid"/>
          </a:ln>
        </p:spPr>
      </p:sp>
      <p:pic>
        <p:nvPicPr>
          <p:cNvPr id="17" name="Image 4" descr="preencoded.png">    </p:cNvPr>
          <p:cNvPicPr>
            <a:picLocks noChangeAspect="1"/>
          </p:cNvPicPr>
          <p:nvPr/>
        </p:nvPicPr>
        <p:blipFill>
          <a:blip r:embed="rId5"/>
          <a:stretch>
            <a:fillRect/>
          </a:stretch>
        </p:blipFill>
        <p:spPr>
          <a:xfrm>
            <a:off x="545714" y="3608954"/>
            <a:ext cx="225308" cy="225308"/>
          </a:xfrm>
          <a:prstGeom prst="rect">
            <a:avLst/>
          </a:prstGeom>
        </p:spPr>
      </p:pic>
      <p:sp>
        <p:nvSpPr>
          <p:cNvPr id="18" name="Text 11"/>
          <p:cNvSpPr txBox="1"/>
          <p:nvPr/>
        </p:nvSpPr>
        <p:spPr>
          <a:xfrm>
            <a:off x="1005840" y="3520440"/>
            <a:ext cx="3657600" cy="402336"/>
          </a:xfrm>
          <a:prstGeom prst="rect">
            <a:avLst/>
          </a:prstGeom>
          <a:noFill/>
          <a:ln/>
        </p:spPr>
        <p:txBody>
          <a:bodyPr wrap="square" lIns="0" tIns="0" rIns="0" bIns="0" rtlCol="0" anchor="ctr"/>
          <a:lstStyle/>
          <a:p>
            <a:pPr indent="0" marL="0">
              <a:buNone/>
            </a:pPr>
            <a:r>
              <a:rPr lang="en-US" sz="1400" dirty="0">
                <a:solidFill>
                  <a:schemeClr val="bg1"/>
                </a:solidFill>
              </a:rPr>
              <a:t>Багш өөрөө lab үүсгэх, засварлах</a:t>
            </a:r>
            <a:endParaRPr lang="en-US" sz="1400" dirty="0"/>
          </a:p>
        </p:txBody>
      </p:sp>
      <p:sp>
        <p:nvSpPr>
          <p:cNvPr id="19" name="vision-card"/>
          <p:cNvSpPr/>
          <p:nvPr/>
        </p:nvSpPr>
        <p:spPr>
          <a:xfrm>
            <a:off x="5029200" y="1325880"/>
            <a:ext cx="3657600" cy="2606040"/>
          </a:xfrm>
          <a:prstGeom prst="roundRect">
            <a:avLst>
              <a:gd name="adj" fmla="val 4211"/>
            </a:avLst>
          </a:prstGeom>
          <a:solidFill>
            <a:schemeClr val="tx2"/>
          </a:solidFill>
          <a:ln w="12700">
            <a:solidFill>
              <a:schemeClr val="tx2"/>
            </a:solidFill>
            <a:prstDash val="solid"/>
          </a:ln>
        </p:spPr>
      </p:sp>
      <p:sp>
        <p:nvSpPr>
          <p:cNvPr id="20" name="Text 13"/>
          <p:cNvSpPr txBox="1"/>
          <p:nvPr/>
        </p:nvSpPr>
        <p:spPr>
          <a:xfrm>
            <a:off x="5303520" y="1508760"/>
            <a:ext cx="3108960" cy="320040"/>
          </a:xfrm>
          <a:prstGeom prst="rect">
            <a:avLst/>
          </a:prstGeom>
          <a:noFill/>
          <a:ln/>
        </p:spPr>
        <p:txBody>
          <a:bodyPr wrap="square" lIns="0" tIns="0" rIns="0" bIns="0" rtlCol="0" anchor="ctr"/>
          <a:lstStyle/>
          <a:p>
            <a:pPr indent="0" marL="0">
              <a:buNone/>
            </a:pPr>
            <a:r>
              <a:rPr lang="en-US" sz="1300" b="1" dirty="0">
                <a:solidFill>
                  <a:schemeClr val="accent2"/>
                </a:solidFill>
              </a:rPr>
              <a:t>Алсын хараа</a:t>
            </a:r>
            <a:endParaRPr lang="en-US" sz="1300" dirty="0"/>
          </a:p>
        </p:txBody>
      </p:sp>
      <p:sp>
        <p:nvSpPr>
          <p:cNvPr id="21" name="Text 14"/>
          <p:cNvSpPr txBox="1"/>
          <p:nvPr/>
        </p:nvSpPr>
        <p:spPr>
          <a:xfrm>
            <a:off x="5303520" y="1874520"/>
            <a:ext cx="3154680" cy="1280160"/>
          </a:xfrm>
          <a:prstGeom prst="rect">
            <a:avLst/>
          </a:prstGeom>
          <a:noFill/>
          <a:ln/>
        </p:spPr>
        <p:txBody>
          <a:bodyPr wrap="square" lIns="0" tIns="0" rIns="0" bIns="0" rtlCol="0" anchor="t"/>
          <a:lstStyle/>
          <a:p>
            <a:pPr indent="0" marL="0">
              <a:buNone/>
            </a:pPr>
            <a:r>
              <a:rPr lang="en-US" sz="2000" b="1" dirty="0">
                <a:solidFill>
                  <a:schemeClr val="bg1"/>
                </a:solidFill>
              </a:rPr>
              <a:t>Сурагч бүрд туршиж суралцах боломж, багш бүрд ухаалгаар ажиллах нөхцөл.</a:t>
            </a:r>
            <a:endParaRPr lang="en-US" sz="2000" dirty="0"/>
          </a:p>
        </p:txBody>
      </p:sp>
      <p:sp>
        <p:nvSpPr>
          <p:cNvPr id="22" name="Text 15"/>
          <p:cNvSpPr txBox="1"/>
          <p:nvPr/>
        </p:nvSpPr>
        <p:spPr>
          <a:xfrm>
            <a:off x="5303520" y="3429000"/>
            <a:ext cx="3154680" cy="274320"/>
          </a:xfrm>
          <a:prstGeom prst="rect">
            <a:avLst/>
          </a:prstGeom>
          <a:noFill/>
          <a:ln/>
        </p:spPr>
        <p:txBody>
          <a:bodyPr wrap="square" lIns="0" tIns="0" rIns="0" bIns="0" rtlCol="0" anchor="ctr"/>
          <a:lstStyle/>
          <a:p>
            <a:pPr indent="0" marL="0">
              <a:buNone/>
            </a:pPr>
            <a:r>
              <a:rPr lang="en-US" sz="1200" dirty="0">
                <a:solidFill>
                  <a:schemeClr val="accent6"/>
                </a:solidFill>
              </a:rPr>
              <a:t>github.com/Altntuya/erxes-hackathon</a:t>
            </a:r>
            <a:endParaRPr lang="en-US" sz="1200" dirty="0"/>
          </a:p>
        </p:txBody>
      </p:sp>
      <p:sp>
        <p:nvSpPr>
          <p:cNvPr id="23" name="Text 16"/>
          <p:cNvSpPr txBox="1"/>
          <p:nvPr/>
        </p:nvSpPr>
        <p:spPr>
          <a:xfrm>
            <a:off x="457200" y="4343400"/>
            <a:ext cx="8229600" cy="411480"/>
          </a:xfrm>
          <a:prstGeom prst="rect">
            <a:avLst/>
          </a:prstGeom>
          <a:noFill/>
          <a:ln/>
        </p:spPr>
        <p:txBody>
          <a:bodyPr wrap="square" lIns="0" tIns="0" rIns="0" bIns="0" rtlCol="0" anchor="ctr"/>
          <a:lstStyle/>
          <a:p>
            <a:pPr indent="0" marL="0">
              <a:buNone/>
            </a:pPr>
            <a:r>
              <a:rPr lang="en-US" sz="2000" b="1" dirty="0">
                <a:solidFill>
                  <a:schemeClr val="accent2"/>
                </a:solidFill>
              </a:rPr>
              <a:t>Баярлалаа!</a:t>
            </a:r>
            <a:endParaRPr lang="en-US" sz="2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EduLab">
  <a:themeElements>
    <a:clrScheme name="EduLab">
      <a:dk1>
        <a:srgbClr val="0B1220"/>
      </a:dk1>
      <a:lt1>
        <a:srgbClr val="FFFFFF"/>
      </a:lt1>
      <a:dk2>
        <a:srgbClr val="1E293B"/>
      </a:dk2>
      <a:lt2>
        <a:srgbClr val="F1F5F9"/>
      </a:lt2>
      <a:accent1>
        <a:srgbClr val="7C6CF2"/>
      </a:accent1>
      <a:accent2>
        <a:srgbClr val="EC4899"/>
      </a:accent2>
      <a:accent3>
        <a:srgbClr val="10B981"/>
      </a:accent3>
      <a:accent4>
        <a:srgbClr val="F59E0B"/>
      </a:accent4>
      <a:accent5>
        <a:srgbClr val="0EA5E9"/>
      </a:accent5>
      <a:accent6>
        <a:srgbClr val="64748B"/>
      </a:accent6>
      <a:hlink>
        <a:srgbClr val="7C6CF2"/>
      </a:hlink>
      <a:folHlink>
        <a:srgbClr val="64748B"/>
      </a:folHlink>
    </a:clrScheme>
    <a:fontScheme name="EduLa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EduLab — 3 минутын танилцуулга</dc:title>
  <dc:subject>PptxGenJS Presentation</dc:subject>
  <dc:creator>EduLab баг</dc:creator>
  <cp:lastModifiedBy>EduLab баг</cp:lastModifiedBy>
  <cp:revision>1</cp:revision>
  <dcterms:created xsi:type="dcterms:W3CDTF">2026-10-24T08:45:42Z</dcterms:created>
  <dcterms:modified xsi:type="dcterms:W3CDTF">2026-10-24T08:45:42Z</dcterms:modified>
</cp:coreProperties>
</file>